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sldIdLst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20" r:id="rId16"/>
    <p:sldId id="419" r:id="rId17"/>
    <p:sldId id="421" r:id="rId18"/>
    <p:sldId id="434" r:id="rId19"/>
    <p:sldId id="423" r:id="rId20"/>
    <p:sldId id="424" r:id="rId21"/>
    <p:sldId id="441" r:id="rId22"/>
    <p:sldId id="426" r:id="rId23"/>
    <p:sldId id="436" r:id="rId24"/>
    <p:sldId id="428" r:id="rId25"/>
    <p:sldId id="429" r:id="rId26"/>
    <p:sldId id="430" r:id="rId27"/>
    <p:sldId id="439" r:id="rId28"/>
    <p:sldId id="432" r:id="rId29"/>
    <p:sldId id="43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9D9D-EDFA-057E-9D34-AA1EC396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CAAE4-EEA8-38DE-8FD2-05AB94AB6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00313-CCEB-FC83-DCA2-54A2E966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6FC49-2726-BC6F-3317-B63EA110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F109B-DDCA-A1AB-4BC3-ACAF6E8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3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5FB5D-969A-9D80-CB74-482BE75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657C8-44AE-CB79-99D6-EC2F12E9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06E79-54B3-1A47-C40B-60DB8C3A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5D021-C1CC-E3A2-6A0D-C5FC4CA7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86DE-C07B-9C68-6719-729BFC2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A7808-01DB-B8DE-0D7A-AB56472A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FCE19-E8A2-6CCD-D612-B9BDC32A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7EF04-8BDB-CE56-00D6-1543CBC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C4A7C-B08F-904C-CF1B-DB5A04F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66152-95F3-2E06-A7FB-194C8375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8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6C52E-3CCD-47C4-975C-E14EA23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BE22A-AB9C-B217-FA7B-082FEC2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7DDBB-68D6-5DFC-7EBE-23366011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112-F8F7-B929-6D25-77459FA9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9010-FEC2-C6A1-A5DA-74DCDD9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A081-F89C-47AF-7C9D-B4176F6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5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E151-2DBF-9F92-285F-32CDC2D0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4BBE1-A8DB-C712-EB98-B34B8DAF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452A4-8ED9-542F-F7D5-284C00D2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C7966-FD05-08C8-DCFA-6E6C1880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8CCDF-3804-2C5F-9A0D-9EA31B9D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11E4B6-6241-228A-7280-3A4268B4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BF312E-F809-64B5-C71F-F189FBE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4D992-EBB3-CD60-16D2-3803B96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6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4A0A-7AD8-B941-C8E4-D796583D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224995-5BCF-E1B0-FD0F-4E4CFB5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F832CF-507D-D5E6-7958-422A1BC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D1AF57-CB06-8908-0444-AC5E9D47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2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0105D4-F947-3E86-56F9-7F64B76A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12BFB-84A9-9E00-3500-4FB09D1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6900-1F1C-98F2-F2E9-A9CB16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6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5BFF-A488-003F-BB6C-6A1772D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48466-00EF-0634-C2EE-311F6207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D8C75-3DB9-8EDC-9E9E-58D05F911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E900D-26C7-8161-9AFF-DB3D536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F5148-76CD-0861-DF37-AF637A77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52B3A-C36E-B7C6-4171-7C2B960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7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4A05-B392-3A0C-BC88-6DDECD10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644DD-5FB8-714B-8429-FB0B07358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CE91-770A-14FC-5E4E-B42C59C2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DBE8-A421-4CB1-C38F-BE0C6E0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30AB7-E85A-0489-25C0-1C550F3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479A0-3D71-E826-CB5E-87CB78D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1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AAD18-575E-7D03-2B84-DCFA19FA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ED1EC-5B25-4DF4-C344-09C00CD0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7A8E-971F-21FD-45A6-FCD9F9D0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871-CD4E-22CF-EFAB-190B8B2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B3F-7B05-AF3B-6917-4F53C831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8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E604EB-9D08-5D37-0D82-C26677C6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E5829-A5CB-04B8-7B7B-DEB84B074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262E7-10C1-F64D-D677-099B0717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57C30-DDCA-8AAC-988D-71FF3EF5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C5143-48C3-7CD4-9399-81BC0015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88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9D9D-EDFA-057E-9D34-AA1EC396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CAAE4-EEA8-38DE-8FD2-05AB94AB6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00313-CCEB-FC83-DCA2-54A2E966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6FC49-2726-BC6F-3317-B63EA110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F109B-DDCA-A1AB-4BC3-ACAF6E8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38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5FB5D-969A-9D80-CB74-482BE75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657C8-44AE-CB79-99D6-EC2F12E9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06E79-54B3-1A47-C40B-60DB8C3A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5D021-C1CC-E3A2-6A0D-C5FC4CA7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86DE-C07B-9C68-6719-729BFC2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9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A7808-01DB-B8DE-0D7A-AB56472A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FCE19-E8A2-6CCD-D612-B9BDC32A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7EF04-8BDB-CE56-00D6-1543CBC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C4A7C-B08F-904C-CF1B-DB5A04F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66152-95F3-2E06-A7FB-194C8375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81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6C52E-3CCD-47C4-975C-E14EA23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BE22A-AB9C-B217-FA7B-082FEC2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7DDBB-68D6-5DFC-7EBE-23366011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112-F8F7-B929-6D25-77459FA9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9010-FEC2-C6A1-A5DA-74DCDD9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A081-F89C-47AF-7C9D-B4176F6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54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E151-2DBF-9F92-285F-32CDC2D0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4BBE1-A8DB-C712-EB98-B34B8DAF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452A4-8ED9-542F-F7D5-284C00D2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C7966-FD05-08C8-DCFA-6E6C1880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8CCDF-3804-2C5F-9A0D-9EA31B9D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11E4B6-6241-228A-7280-3A4268B4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BF312E-F809-64B5-C71F-F189FBE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4D992-EBB3-CD60-16D2-3803B96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69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4A0A-7AD8-B941-C8E4-D796583D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224995-5BCF-E1B0-FD0F-4E4CFB5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F832CF-507D-D5E6-7958-422A1BC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D1AF57-CB06-8908-0444-AC5E9D47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22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0105D4-F947-3E86-56F9-7F64B76A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12BFB-84A9-9E00-3500-4FB09D1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6900-1F1C-98F2-F2E9-A9CB16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62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5BFF-A488-003F-BB6C-6A1772D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48466-00EF-0634-C2EE-311F6207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D8C75-3DB9-8EDC-9E9E-58D05F911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E900D-26C7-8161-9AFF-DB3D536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F5148-76CD-0861-DF37-AF637A77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52B3A-C36E-B7C6-4171-7C2B960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74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4A05-B392-3A0C-BC88-6DDECD10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644DD-5FB8-714B-8429-FB0B07358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CE91-770A-14FC-5E4E-B42C59C2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DBE8-A421-4CB1-C38F-BE0C6E0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30AB7-E85A-0489-25C0-1C550F3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479A0-3D71-E826-CB5E-87CB78D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16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AAD18-575E-7D03-2B84-DCFA19FA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ED1EC-5B25-4DF4-C344-09C00CD0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7A8E-971F-21FD-45A6-FCD9F9D0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871-CD4E-22CF-EFAB-190B8B2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B3F-7B05-AF3B-6917-4F53C831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88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E604EB-9D08-5D37-0D82-C26677C6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E5829-A5CB-04B8-7B7B-DEB84B074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262E7-10C1-F64D-D677-099B0717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57C30-DDCA-8AAC-988D-71FF3EF5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C5143-48C3-7CD4-9399-81BC0015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88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9D9D-EDFA-057E-9D34-AA1EC396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CAAE4-EEA8-38DE-8FD2-05AB94AB6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00313-CCEB-FC83-DCA2-54A2E966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6FC49-2726-BC6F-3317-B63EA110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F109B-DDCA-A1AB-4BC3-ACAF6E8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38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5FB5D-969A-9D80-CB74-482BE75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657C8-44AE-CB79-99D6-EC2F12E9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06E79-54B3-1A47-C40B-60DB8C3A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5D021-C1CC-E3A2-6A0D-C5FC4CA7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86DE-C07B-9C68-6719-729BFC2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9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A7808-01DB-B8DE-0D7A-AB56472A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FCE19-E8A2-6CCD-D612-B9BDC32A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7EF04-8BDB-CE56-00D6-1543CBC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C4A7C-B08F-904C-CF1B-DB5A04F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66152-95F3-2E06-A7FB-194C8375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810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6C52E-3CCD-47C4-975C-E14EA23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BE22A-AB9C-B217-FA7B-082FEC2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7DDBB-68D6-5DFC-7EBE-23366011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112-F8F7-B929-6D25-77459FA9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9010-FEC2-C6A1-A5DA-74DCDD9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A081-F89C-47AF-7C9D-B4176F6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54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E151-2DBF-9F92-285F-32CDC2D0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4BBE1-A8DB-C712-EB98-B34B8DAF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452A4-8ED9-542F-F7D5-284C00D2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C7966-FD05-08C8-DCFA-6E6C1880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8CCDF-3804-2C5F-9A0D-9EA31B9D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11E4B6-6241-228A-7280-3A4268B4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BF312E-F809-64B5-C71F-F189FBE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4D992-EBB3-CD60-16D2-3803B96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694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4A0A-7AD8-B941-C8E4-D796583D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224995-5BCF-E1B0-FD0F-4E4CFB5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F832CF-507D-D5E6-7958-422A1BC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D1AF57-CB06-8908-0444-AC5E9D47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224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0105D4-F947-3E86-56F9-7F64B76A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12BFB-84A9-9E00-3500-4FB09D1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6900-1F1C-98F2-F2E9-A9CB16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627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5BFF-A488-003F-BB6C-6A1772D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48466-00EF-0634-C2EE-311F6207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D8C75-3DB9-8EDC-9E9E-58D05F911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E900D-26C7-8161-9AFF-DB3D536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F5148-76CD-0861-DF37-AF637A77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52B3A-C36E-B7C6-4171-7C2B960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74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4A05-B392-3A0C-BC88-6DDECD10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644DD-5FB8-714B-8429-FB0B07358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CE91-770A-14FC-5E4E-B42C59C2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DBE8-A421-4CB1-C38F-BE0C6E0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30AB7-E85A-0489-25C0-1C550F3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479A0-3D71-E826-CB5E-87CB78D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168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AAD18-575E-7D03-2B84-DCFA19FA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ED1EC-5B25-4DF4-C344-09C00CD0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7A8E-971F-21FD-45A6-FCD9F9D0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871-CD4E-22CF-EFAB-190B8B2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B3F-7B05-AF3B-6917-4F53C831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884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E604EB-9D08-5D37-0D82-C26677C6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E5829-A5CB-04B8-7B7B-DEB84B074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262E7-10C1-F64D-D677-099B0717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57C30-DDCA-8AAC-988D-71FF3EF5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C5143-48C3-7CD4-9399-81BC0015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882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9D9D-EDFA-057E-9D34-AA1EC396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CAAE4-EEA8-38DE-8FD2-05AB94AB6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00313-CCEB-FC83-DCA2-54A2E966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6FC49-2726-BC6F-3317-B63EA110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F109B-DDCA-A1AB-4BC3-ACAF6E8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382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5FB5D-969A-9D80-CB74-482BE75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657C8-44AE-CB79-99D6-EC2F12E9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06E79-54B3-1A47-C40B-60DB8C3A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5D021-C1CC-E3A2-6A0D-C5FC4CA7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86DE-C07B-9C68-6719-729BFC2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91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A7808-01DB-B8DE-0D7A-AB56472A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FCE19-E8A2-6CCD-D612-B9BDC32A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7EF04-8BDB-CE56-00D6-1543CBC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C4A7C-B08F-904C-CF1B-DB5A04F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66152-95F3-2E06-A7FB-194C8375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810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6C52E-3CCD-47C4-975C-E14EA23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BE22A-AB9C-B217-FA7B-082FEC2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7DDBB-68D6-5DFC-7EBE-23366011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112-F8F7-B929-6D25-77459FA9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9010-FEC2-C6A1-A5DA-74DCDD9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A081-F89C-47AF-7C9D-B4176F6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544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E151-2DBF-9F92-285F-32CDC2D0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4BBE1-A8DB-C712-EB98-B34B8DAF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452A4-8ED9-542F-F7D5-284C00D2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C7966-FD05-08C8-DCFA-6E6C1880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8CCDF-3804-2C5F-9A0D-9EA31B9D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11E4B6-6241-228A-7280-3A4268B4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BF312E-F809-64B5-C71F-F189FBE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4D992-EBB3-CD60-16D2-3803B96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694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4A0A-7AD8-B941-C8E4-D796583D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224995-5BCF-E1B0-FD0F-4E4CFB5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F832CF-507D-D5E6-7958-422A1BC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D1AF57-CB06-8908-0444-AC5E9D47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22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0105D4-F947-3E86-56F9-7F64B76A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12BFB-84A9-9E00-3500-4FB09D1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6900-1F1C-98F2-F2E9-A9CB16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627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5BFF-A488-003F-BB6C-6A1772D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48466-00EF-0634-C2EE-311F6207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D8C75-3DB9-8EDC-9E9E-58D05F911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E900D-26C7-8161-9AFF-DB3D536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F5148-76CD-0861-DF37-AF637A77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52B3A-C36E-B7C6-4171-7C2B960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74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4A05-B392-3A0C-BC88-6DDECD10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644DD-5FB8-714B-8429-FB0B07358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CE91-770A-14FC-5E4E-B42C59C2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DBE8-A421-4CB1-C38F-BE0C6E0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30AB7-E85A-0489-25C0-1C550F3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479A0-3D71-E826-CB5E-87CB78D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168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AAD18-575E-7D03-2B84-DCFA19FA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ED1EC-5B25-4DF4-C344-09C00CD0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7A8E-971F-21FD-45A6-FCD9F9D0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871-CD4E-22CF-EFAB-190B8B2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B3F-7B05-AF3B-6917-4F53C831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88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E604EB-9D08-5D37-0D82-C26677C6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E5829-A5CB-04B8-7B7B-DEB84B074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262E7-10C1-F64D-D677-099B0717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57C30-DDCA-8AAC-988D-71FF3EF5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C5143-48C3-7CD4-9399-81BC0015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882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9D9D-EDFA-057E-9D34-AA1EC396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CAAE4-EEA8-38DE-8FD2-05AB94AB6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00313-CCEB-FC83-DCA2-54A2E966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6FC49-2726-BC6F-3317-B63EA110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F109B-DDCA-A1AB-4BC3-ACAF6E8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382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5FB5D-969A-9D80-CB74-482BE75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657C8-44AE-CB79-99D6-EC2F12E9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06E79-54B3-1A47-C40B-60DB8C3A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5D021-C1CC-E3A2-6A0D-C5FC4CA7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86DE-C07B-9C68-6719-729BFC29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391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A7808-01DB-B8DE-0D7A-AB56472A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FCE19-E8A2-6CCD-D612-B9BDC32A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7EF04-8BDB-CE56-00D6-1543CBC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C4A7C-B08F-904C-CF1B-DB5A04F8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66152-95F3-2E06-A7FB-194C8375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810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6C52E-3CCD-47C4-975C-E14EA23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BE22A-AB9C-B217-FA7B-082FEC2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C7DDBB-68D6-5DFC-7EBE-23366011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112-F8F7-B929-6D25-77459FA9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9010-FEC2-C6A1-A5DA-74DCDD9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A081-F89C-47AF-7C9D-B4176F65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544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E151-2DBF-9F92-285F-32CDC2D0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4BBE1-A8DB-C712-EB98-B34B8DAF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452A4-8ED9-542F-F7D5-284C00D2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C7966-FD05-08C8-DCFA-6E6C1880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8CCDF-3804-2C5F-9A0D-9EA31B9D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11E4B6-6241-228A-7280-3A4268B4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BF312E-F809-64B5-C71F-F189FBE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4D992-EBB3-CD60-16D2-3803B96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694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4A0A-7AD8-B941-C8E4-D796583D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224995-5BCF-E1B0-FD0F-4E4CFB59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F832CF-507D-D5E6-7958-422A1BC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D1AF57-CB06-8908-0444-AC5E9D47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224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0105D4-F947-3E86-56F9-7F64B76A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12BFB-84A9-9E00-3500-4FB09D1D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6900-1F1C-98F2-F2E9-A9CB16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627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B5BFF-A488-003F-BB6C-6A1772D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48466-00EF-0634-C2EE-311F6207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BD8C75-3DB9-8EDC-9E9E-58D05F911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E900D-26C7-8161-9AFF-DB3D536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F5148-76CD-0861-DF37-AF637A77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52B3A-C36E-B7C6-4171-7C2B960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7428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4A05-B392-3A0C-BC88-6DDECD10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644DD-5FB8-714B-8429-FB0B07358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CE91-770A-14FC-5E4E-B42C59C2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DBE8-A421-4CB1-C38F-BE0C6E0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30AB7-E85A-0489-25C0-1C550F33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479A0-3D71-E826-CB5E-87CB78D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168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AAD18-575E-7D03-2B84-DCFA19FA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ED1EC-5B25-4DF4-C344-09C00CD0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97A8E-971F-21FD-45A6-FCD9F9D0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871-CD4E-22CF-EFAB-190B8B2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B3F-7B05-AF3B-6917-4F53C831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884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E604EB-9D08-5D37-0D82-C26677C6A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E5829-A5CB-04B8-7B7B-DEB84B074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262E7-10C1-F64D-D677-099B0717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57C30-DDCA-8AAC-988D-71FF3EF5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C5143-48C3-7CD4-9399-81BC0015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8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923"/>
            </a:gs>
            <a:gs pos="100000">
              <a:srgbClr val="0A121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E920F-7352-4F27-1764-08AD5D9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867B5-7B7A-2190-9993-032C336F6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87417-1562-170A-A1CA-E2673EED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5959E-0B40-0B70-B15F-9936460B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0015-E617-D888-E445-CC05C43D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AccentLine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00D68F">
                  <a:alpha val="0"/>
                </a:srgbClr>
              </a:gs>
              <a:gs pos="40000">
                <a:srgbClr val="00D68F"/>
              </a:gs>
              <a:gs pos="6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97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E8EC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0CAD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0CAD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0CAD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CAD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CAD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rgbClr val="C0CAD8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C0CAD8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C0CAD8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C0CAD8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C0CAD8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E920F-7352-4F27-1764-08AD5D9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867B5-7B7A-2190-9993-032C336F6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87417-1562-170A-A1CA-E2673EED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5959E-0B40-0B70-B15F-9936460B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0015-E617-D888-E445-CC05C43D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97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E920F-7352-4F27-1764-08AD5D9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867B5-7B7A-2190-9993-032C336F6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87417-1562-170A-A1CA-E2673EED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5959E-0B40-0B70-B15F-9936460B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0015-E617-D888-E445-CC05C43D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50" name="AccentLine"/>
          <p:cNvSpPr/>
          <p:nvPr userDrawn="1"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DF7B5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97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E920F-7352-4F27-1764-08AD5D9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867B5-7B7A-2190-9993-032C336F6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87417-1562-170A-A1CA-E2673EED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5959E-0B40-0B70-B15F-9936460B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0015-E617-D888-E445-CC05C43D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50" name="AccentLine"/>
          <p:cNvSpPr/>
          <p:nvPr userDrawn="1"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DF7B5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97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E920F-7352-4F27-1764-08AD5D9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867B5-7B7A-2190-9993-032C336F6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87417-1562-170A-A1CA-E2673EED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E9CD-2E04-4586-AF31-CFFD501C16F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5959E-0B40-0B70-B15F-9936460B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10015-E617-D888-E445-CC05C43D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96D47-6C75-46F5-B760-FB646FFFE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97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 txBox="1"/>
          <p:nvPr/>
        </p:nvSpPr>
        <p:spPr>
          <a:xfrm>
            <a:off x="914400" y="2616200"/>
            <a:ext cx="1036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5400" b="1">
                <a:solidFill>
                  <a:srgbClr val="DF7B53"/>
                </a:solidFill>
                <a:latin typeface="Pretendard"/>
                <a:ea typeface="Pretendard"/>
              </a:rPr>
              <a:t>GX Plugins</a:t>
            </a:r>
            <a:endParaRPr lang="en-US" sz="5400" b="1" dirty="0">
              <a:solidFill>
                <a:srgbClr val="DF7B53"/>
              </a:solidFill>
              <a:latin typeface="Pretendard"/>
              <a:ea typeface="Pretendard"/>
            </a:endParaRPr>
          </a:p>
        </p:txBody>
      </p:sp>
      <p:sp>
        <p:nvSpPr>
          <p:cNvPr id="11" name="Subtitle"/>
          <p:cNvSpPr txBox="1"/>
          <p:nvPr/>
        </p:nvSpPr>
        <p:spPr>
          <a:xfrm>
            <a:off x="1371600" y="4114529"/>
            <a:ext cx="94488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878787"/>
                </a:solidFill>
                <a:latin typeface="Pretendard"/>
                <a:ea typeface="Pretendard"/>
              </a:rPr>
              <a:t>GX </a:t>
            </a:r>
            <a:r>
              <a:rPr lang="ko-KR" sz="2000" dirty="0">
                <a:solidFill>
                  <a:srgbClr val="878787"/>
                </a:solidFill>
                <a:latin typeface="Pretendard"/>
                <a:ea typeface="Pretendard"/>
              </a:rPr>
              <a:t>사업본부를 위한 </a:t>
            </a:r>
            <a:r>
              <a:rPr lang="ko-KR" sz="2000">
                <a:solidFill>
                  <a:srgbClr val="878787"/>
                </a:solidFill>
                <a:latin typeface="Pretendard"/>
                <a:ea typeface="Pretendard"/>
              </a:rPr>
              <a:t>AI 플러그인</a:t>
            </a:r>
            <a:endParaRPr lang="en-US" altLang="ko-KR" sz="20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endParaRPr lang="en-US" altLang="ko-KR" sz="20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endParaRPr lang="ko-KR" sz="20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r>
              <a:rPr lang="ko-KR" sz="3000" b="1" dirty="0">
                <a:solidFill>
                  <a:srgbClr val="4A4A4A"/>
                </a:solidFill>
                <a:latin typeface="Pretendard"/>
                <a:ea typeface="Pretendard"/>
              </a:rPr>
              <a:t>개발자에게는 </a:t>
            </a:r>
            <a:r>
              <a:rPr lang="en-US" sz="3000" b="1" dirty="0">
                <a:solidFill>
                  <a:srgbClr val="DF7B53"/>
                </a:solidFill>
                <a:latin typeface="Pretendard"/>
                <a:ea typeface="Pretendard"/>
              </a:rPr>
              <a:t>oh-my-gx</a:t>
            </a:r>
            <a:r>
              <a:rPr lang="ko-KR" sz="3000" b="1" dirty="0">
                <a:solidFill>
                  <a:srgbClr val="4A4A4A"/>
                </a:solidFill>
                <a:latin typeface="Pretendard"/>
                <a:ea typeface="Pretendard"/>
              </a:rPr>
              <a:t>, PM에게는 </a:t>
            </a:r>
            <a:r>
              <a:rPr lang="en-US" sz="3000" b="1" dirty="0">
                <a:solidFill>
                  <a:srgbClr val="DF7B53"/>
                </a:solidFill>
                <a:latin typeface="Pretendard"/>
                <a:ea typeface="Pretendard"/>
              </a:rPr>
              <a:t>gx-pm</a:t>
            </a:r>
          </a:p>
        </p:txBody>
      </p:sp>
      <p:sp>
        <p:nvSpPr>
          <p:cNvPr id="12" name="Info"/>
          <p:cNvSpPr txBox="1"/>
          <p:nvPr/>
        </p:nvSpPr>
        <p:spPr>
          <a:xfrm>
            <a:off x="1371600" y="5715000"/>
            <a:ext cx="944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데이터플랫폼 구본승</a:t>
            </a:r>
            <a:r>
              <a:rPr lang="en-US" sz="1400">
                <a:solidFill>
                  <a:srgbClr val="AAAAAA"/>
                </a:solidFill>
                <a:latin typeface="Pretendard"/>
                <a:ea typeface="Pretendard"/>
              </a:rPr>
              <a:t> | 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스픽스데이 </a:t>
            </a:r>
            <a:r>
              <a:rPr lang="en-US" altLang="ko-KR" sz="1400">
                <a:solidFill>
                  <a:srgbClr val="AAAAAA"/>
                </a:solidFill>
                <a:latin typeface="Pretendard"/>
                <a:ea typeface="Pretendard"/>
              </a:rPr>
              <a:t>18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회</a:t>
            </a:r>
            <a:endParaRPr lang="en-US" sz="1400" dirty="0">
              <a:solidFill>
                <a:srgbClr val="AAAAAA"/>
              </a:solidFill>
              <a:latin typeface="Pretendard"/>
              <a:ea typeface="Pretendard"/>
            </a:endParaRPr>
          </a:p>
        </p:txBody>
      </p:sp>
      <p:sp>
        <p:nvSpPr>
          <p:cNvPr id="13" name="AccentDash"/>
          <p:cNvSpPr/>
          <p:nvPr/>
        </p:nvSpPr>
        <p:spPr>
          <a:xfrm>
            <a:off x="5486400" y="2387600"/>
            <a:ext cx="1219200" cy="36576"/>
          </a:xfrm>
          <a:prstGeom prst="rect">
            <a:avLst/>
          </a:prstGeom>
          <a:solidFill>
            <a:srgbClr val="DF7B5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311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 txBox="1"/>
          <p:nvPr/>
        </p:nvSpPr>
        <p:spPr>
          <a:xfrm>
            <a:off x="1174750" y="1270000"/>
            <a:ext cx="98425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4000" b="1">
                <a:solidFill>
                  <a:srgbClr val="1A1A1A"/>
                </a:solidFill>
                <a:latin typeface="Pretendard"/>
                <a:ea typeface="Pretendard"/>
              </a:rPr>
              <a:t>AI 개</a:t>
            </a:r>
            <a:r>
              <a:rPr lang="ko-KR" altLang="en-US" sz="4000" b="1">
                <a:solidFill>
                  <a:srgbClr val="1A1A1A"/>
                </a:solidFill>
                <a:latin typeface="Pretendard"/>
                <a:ea typeface="Pretendard"/>
              </a:rPr>
              <a:t>발트렌드</a:t>
            </a:r>
            <a:r>
              <a:rPr lang="ko-KR" sz="4000" b="1">
                <a:solidFill>
                  <a:srgbClr val="1A1A1A"/>
                </a:solidFill>
                <a:latin typeface="Pretendard"/>
                <a:ea typeface="Pretendard"/>
              </a:rPr>
              <a:t>의 </a:t>
            </a:r>
            <a:r>
              <a:rPr lang="ko-KR" sz="4000" b="1" dirty="0">
                <a:solidFill>
                  <a:srgbClr val="1A1A1A"/>
                </a:solidFill>
                <a:latin typeface="Pretendard"/>
                <a:ea typeface="Pretendard"/>
              </a:rPr>
              <a:t>진화</a:t>
            </a:r>
          </a:p>
        </p:txBody>
      </p:sp>
      <p:sp>
        <p:nvSpPr>
          <p:cNvPr id="20" name="Era0"/>
          <p:cNvSpPr/>
          <p:nvPr/>
        </p:nvSpPr>
        <p:spPr>
          <a:xfrm>
            <a:off x="1174750" y="2540000"/>
            <a:ext cx="2857500" cy="279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4800" b="1" dirty="0">
                <a:solidFill>
                  <a:srgbClr val="1A1A1A"/>
                </a:solidFill>
                <a:latin typeface="Pretendard"/>
                <a:ea typeface="Pretendard"/>
              </a:rPr>
              <a:t>2024</a:t>
            </a:r>
          </a:p>
          <a:p>
            <a:pPr algn="ctr">
              <a:spcBef>
                <a:spcPts val="600"/>
              </a:spcBef>
            </a:pPr>
            <a:r>
              <a:rPr lang="ko-KR" sz="2000" dirty="0">
                <a:solidFill>
                  <a:srgbClr val="878787"/>
                </a:solidFill>
                <a:latin typeface="Pretendard"/>
                <a:ea typeface="Pretendard"/>
              </a:rPr>
              <a:t>프롬프트 엔지니어링</a:t>
            </a:r>
          </a:p>
        </p:txBody>
      </p:sp>
      <p:sp>
        <p:nvSpPr>
          <p:cNvPr id="30" name="Arrow0"/>
          <p:cNvSpPr txBox="1"/>
          <p:nvPr/>
        </p:nvSpPr>
        <p:spPr>
          <a:xfrm>
            <a:off x="4121150" y="3683000"/>
            <a:ext cx="45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DF7B53"/>
                </a:solidFill>
                <a:latin typeface="Pretendard"/>
              </a:rPr>
              <a:t>→</a:t>
            </a:r>
          </a:p>
        </p:txBody>
      </p:sp>
      <p:sp>
        <p:nvSpPr>
          <p:cNvPr id="21" name="Era1"/>
          <p:cNvSpPr/>
          <p:nvPr/>
        </p:nvSpPr>
        <p:spPr>
          <a:xfrm>
            <a:off x="4667250" y="2540000"/>
            <a:ext cx="2857500" cy="2794000"/>
          </a:xfrm>
          <a:prstGeom prst="roundRect">
            <a:avLst/>
          </a:prstGeom>
          <a:solidFill>
            <a:srgbClr val="F5E6D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4800" b="1" dirty="0">
                <a:solidFill>
                  <a:srgbClr val="1A1A1A"/>
                </a:solidFill>
                <a:latin typeface="Pretendard"/>
                <a:ea typeface="Pretendard"/>
              </a:rPr>
              <a:t>2025</a:t>
            </a:r>
          </a:p>
          <a:p>
            <a:pPr algn="ctr">
              <a:spcBef>
                <a:spcPts val="600"/>
              </a:spcBef>
            </a:pPr>
            <a:r>
              <a:rPr lang="ko-KR" sz="2000" dirty="0">
                <a:solidFill>
                  <a:srgbClr val="878787"/>
                </a:solidFill>
                <a:latin typeface="Pretendard"/>
                <a:ea typeface="Pretendard"/>
              </a:rPr>
              <a:t>에이전트 엔지니어링</a:t>
            </a:r>
          </a:p>
        </p:txBody>
      </p:sp>
      <p:sp>
        <p:nvSpPr>
          <p:cNvPr id="31" name="Arrow1"/>
          <p:cNvSpPr txBox="1"/>
          <p:nvPr/>
        </p:nvSpPr>
        <p:spPr>
          <a:xfrm>
            <a:off x="7613650" y="3683000"/>
            <a:ext cx="45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DF7B53"/>
                </a:solidFill>
                <a:latin typeface="Pretendard"/>
              </a:rPr>
              <a:t>→</a:t>
            </a:r>
          </a:p>
        </p:txBody>
      </p:sp>
      <p:sp>
        <p:nvSpPr>
          <p:cNvPr id="22" name="Era2"/>
          <p:cNvSpPr/>
          <p:nvPr/>
        </p:nvSpPr>
        <p:spPr>
          <a:xfrm>
            <a:off x="8159750" y="2540000"/>
            <a:ext cx="2857500" cy="2794000"/>
          </a:xfrm>
          <a:prstGeom prst="roundRect">
            <a:avLst/>
          </a:prstGeom>
          <a:solidFill>
            <a:srgbClr val="DF7B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Pretendard"/>
                <a:ea typeface="Pretendard"/>
              </a:rPr>
              <a:t>2026</a:t>
            </a:r>
          </a:p>
          <a:p>
            <a:pPr algn="ctr">
              <a:spcBef>
                <a:spcPts val="600"/>
              </a:spcBef>
            </a:pPr>
            <a:r>
              <a:rPr lang="ko-KR" sz="2000" dirty="0">
                <a:solidFill>
                  <a:srgbClr val="FFE0D0"/>
                </a:solidFill>
                <a:latin typeface="Pretendard"/>
                <a:ea typeface="Pretendard"/>
              </a:rPr>
              <a:t>하네스 엔지니어링</a:t>
            </a:r>
          </a:p>
        </p:txBody>
      </p:sp>
    </p:spTree>
    <p:extLst>
      <p:ext uri="{BB962C8B-B14F-4D97-AF65-F5344CB8AC3E}">
        <p14:creationId xmlns:p14="http://schemas.microsoft.com/office/powerpoint/2010/main" val="1944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457200" y="15875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ko-KR" sz="4000" b="1" dirty="0">
                <a:solidFill>
                  <a:srgbClr val="1A1A1A"/>
                </a:solidFill>
                <a:latin typeface="Pretendard"/>
                <a:ea typeface="Pretendard"/>
              </a:rPr>
              <a:t>왜 '하네스'</a:t>
            </a:r>
          </a:p>
          <a:p>
            <a:pPr algn="l"/>
            <a:r>
              <a:rPr lang="ko-KR" sz="4000" b="1" dirty="0">
                <a:solidFill>
                  <a:srgbClr val="1A1A1A"/>
                </a:solidFill>
                <a:latin typeface="Pretendard"/>
                <a:ea typeface="Pretendard"/>
              </a:rPr>
              <a:t>라고 부를까?</a:t>
            </a:r>
          </a:p>
        </p:txBody>
      </p:sp>
      <p:sp>
        <p:nvSpPr>
          <p:cNvPr id="11" name="S11"/>
          <p:cNvSpPr/>
          <p:nvPr/>
        </p:nvSpPr>
        <p:spPr>
          <a:xfrm>
            <a:off x="457200" y="3619500"/>
            <a:ext cx="5334000" cy="889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2400" b="1" dirty="0">
                <a:solidFill>
                  <a:srgbClr val="DF7B53"/>
                </a:solidFill>
                <a:latin typeface="Pretendard"/>
                <a:ea typeface="Pretendard"/>
              </a:rPr>
              <a:t>Harness</a:t>
            </a:r>
            <a:r>
              <a:rPr lang="ko-KR" sz="2400" dirty="0">
                <a:solidFill>
                  <a:srgbClr val="4A4A4A"/>
                </a:solidFill>
                <a:latin typeface="Pretendard"/>
                <a:ea typeface="Pretendard"/>
              </a:rPr>
              <a:t> = 마구(馬具)</a:t>
            </a:r>
          </a:p>
        </p:txBody>
      </p:sp>
      <p:sp>
        <p:nvSpPr>
          <p:cNvPr id="20" name="S20"/>
          <p:cNvSpPr/>
          <p:nvPr/>
        </p:nvSpPr>
        <p:spPr>
          <a:xfrm>
            <a:off x="6223000" y="1587500"/>
            <a:ext cx="5511800" cy="1905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ko-KR" sz="2000" b="1" dirty="0">
                <a:solidFill>
                  <a:srgbClr val="1A1A1A"/>
                </a:solidFill>
                <a:latin typeface="Pretendard"/>
                <a:ea typeface="Pretendard"/>
              </a:rPr>
              <a:t>말에 씌워서</a:t>
            </a:r>
          </a:p>
          <a:p>
            <a:pPr algn="l">
              <a:spcBef>
                <a:spcPts val="200"/>
              </a:spcBef>
            </a:pPr>
            <a:r>
              <a:rPr lang="ko-KR" sz="2000" dirty="0">
                <a:solidFill>
                  <a:srgbClr val="333333"/>
                </a:solidFill>
                <a:latin typeface="Pretendard"/>
                <a:ea typeface="Pretendard"/>
              </a:rPr>
              <a:t>힘을 원하는 방향으로</a:t>
            </a:r>
          </a:p>
          <a:p>
            <a:pPr algn="l">
              <a:spcBef>
                <a:spcPts val="200"/>
              </a:spcBef>
            </a:pPr>
            <a:r>
              <a:rPr lang="ko-KR" sz="2000" dirty="0">
                <a:solidFill>
                  <a:srgbClr val="333333"/>
                </a:solidFill>
                <a:latin typeface="Pretendard"/>
                <a:ea typeface="Pretendard"/>
              </a:rPr>
              <a:t>쓰게 해주는 것</a:t>
            </a:r>
          </a:p>
        </p:txBody>
      </p:sp>
      <p:sp>
        <p:nvSpPr>
          <p:cNvPr id="21" name="S21"/>
          <p:cNvSpPr/>
          <p:nvPr/>
        </p:nvSpPr>
        <p:spPr>
          <a:xfrm>
            <a:off x="6223000" y="3746500"/>
            <a:ext cx="5511800" cy="1524000"/>
          </a:xfrm>
          <a:prstGeom prst="roundRect">
            <a:avLst/>
          </a:prstGeom>
          <a:solidFill>
            <a:srgbClr val="DF7B53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ko-KR" sz="2400" b="1" dirty="0">
                <a:solidFill>
                  <a:srgbClr val="FFFFFF"/>
                </a:solidFill>
                <a:latin typeface="Pretendard"/>
                <a:ea typeface="Pretendard"/>
              </a:rPr>
              <a:t>AI도 마찬가지.</a:t>
            </a:r>
          </a:p>
          <a:p>
            <a:pPr algn="l">
              <a:spcBef>
                <a:spcPts val="400"/>
              </a:spcBef>
            </a:pPr>
            <a:r>
              <a:rPr lang="ko-KR" sz="2400" b="1" dirty="0">
                <a:solidFill>
                  <a:srgbClr val="FFE0D0"/>
                </a:solidFill>
                <a:latin typeface="Pretendard"/>
                <a:ea typeface="Pretendard"/>
              </a:rPr>
              <a:t>방향을 잡아줘야 한다.</a:t>
            </a:r>
          </a:p>
        </p:txBody>
      </p:sp>
    </p:spTree>
    <p:extLst>
      <p:ext uri="{BB962C8B-B14F-4D97-AF65-F5344CB8AC3E}">
        <p14:creationId xmlns:p14="http://schemas.microsoft.com/office/powerpoint/2010/main" val="2849745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762000" y="9525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4000" b="1" dirty="0">
                <a:solidFill>
                  <a:srgbClr val="1A1A1A"/>
                </a:solidFill>
                <a:latin typeface="Pretendard"/>
                <a:ea typeface="Pretendard"/>
              </a:rPr>
              <a:t>서울에서 부산까지</a:t>
            </a:r>
          </a:p>
        </p:txBody>
      </p:sp>
      <p:sp>
        <p:nvSpPr>
          <p:cNvPr id="20" name="S20"/>
          <p:cNvSpPr/>
          <p:nvPr/>
        </p:nvSpPr>
        <p:spPr>
          <a:xfrm>
            <a:off x="762000" y="2032000"/>
            <a:ext cx="4991100" cy="3810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2400" b="1" dirty="0">
                <a:solidFill>
                  <a:srgbClr val="C94545"/>
                </a:solidFill>
                <a:latin typeface="Pretendard"/>
                <a:ea typeface="Pretendard"/>
              </a:rPr>
              <a:t>드넓은 평지</a:t>
            </a:r>
          </a:p>
          <a:p>
            <a:pPr algn="ctr">
              <a:spcBef>
                <a:spcPts val="1200"/>
              </a:spcBef>
            </a:pPr>
            <a:r>
              <a:rPr lang="ko-KR" sz="4000" b="1" dirty="0">
                <a:solidFill>
                  <a:srgbClr val="1A1A1A"/>
                </a:solidFill>
                <a:latin typeface="Pretendard"/>
                <a:ea typeface="Pretendard"/>
              </a:rPr>
              <a:t>수조 개의 경로</a:t>
            </a:r>
          </a:p>
          <a:p>
            <a:pPr algn="ctr">
              <a:spcBef>
                <a:spcPts val="800"/>
              </a:spcBef>
            </a:pPr>
            <a:r>
              <a:rPr lang="ko-KR" sz="1800" dirty="0">
                <a:solidFill>
                  <a:srgbClr val="5A5A5A"/>
                </a:solidFill>
                <a:latin typeface="Pretendard"/>
                <a:ea typeface="Pretendard"/>
              </a:rPr>
              <a:t>어디로 갈지 모름</a:t>
            </a:r>
          </a:p>
          <a:p>
            <a:pPr algn="ctr">
              <a:spcBef>
                <a:spcPts val="200"/>
              </a:spcBef>
            </a:pPr>
            <a:r>
              <a:rPr lang="ko-KR" sz="1800" dirty="0">
                <a:solidFill>
                  <a:srgbClr val="5A5A5A"/>
                </a:solidFill>
                <a:latin typeface="Pretendard"/>
                <a:ea typeface="Pretendard"/>
              </a:rPr>
              <a:t>헤매고, 돌아가고</a:t>
            </a:r>
          </a:p>
        </p:txBody>
      </p:sp>
      <p:sp>
        <p:nvSpPr>
          <p:cNvPr id="25" name="S25"/>
          <p:cNvSpPr/>
          <p:nvPr/>
        </p:nvSpPr>
        <p:spPr>
          <a:xfrm>
            <a:off x="5753100" y="3683000"/>
            <a:ext cx="685800" cy="50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sz="3200" b="1" dirty="0">
                <a:solidFill>
                  <a:srgbClr val="DF7B53"/>
                </a:solidFill>
                <a:latin typeface="Pretendard"/>
              </a:rPr>
              <a:t>→</a:t>
            </a:r>
          </a:p>
        </p:txBody>
      </p:sp>
      <p:sp>
        <p:nvSpPr>
          <p:cNvPr id="21" name="S21"/>
          <p:cNvSpPr/>
          <p:nvPr/>
        </p:nvSpPr>
        <p:spPr>
          <a:xfrm>
            <a:off x="6438900" y="2032000"/>
            <a:ext cx="4991100" cy="3810000"/>
          </a:xfrm>
          <a:prstGeom prst="roundRect">
            <a:avLst/>
          </a:prstGeom>
          <a:solidFill>
            <a:srgbClr val="DF7B53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2400" b="1" dirty="0">
                <a:solidFill>
                  <a:srgbClr val="FFFFFF"/>
                </a:solidFill>
                <a:latin typeface="Pretendard"/>
                <a:ea typeface="Pretendard"/>
              </a:rPr>
              <a:t>길을 닦은 도로</a:t>
            </a:r>
          </a:p>
          <a:p>
            <a:pPr algn="ctr">
              <a:spcBef>
                <a:spcPts val="1200"/>
              </a:spcBef>
            </a:pPr>
            <a:r>
              <a:rPr lang="ko-KR" sz="4000" b="1" dirty="0">
                <a:solidFill>
                  <a:srgbClr val="FFFFFF"/>
                </a:solidFill>
                <a:latin typeface="Pretendard"/>
                <a:ea typeface="Pretendard"/>
              </a:rPr>
              <a:t>정해진 경로</a:t>
            </a:r>
          </a:p>
          <a:p>
            <a:pPr algn="ctr">
              <a:spcBef>
                <a:spcPts val="800"/>
              </a:spcBef>
            </a:pPr>
            <a:r>
              <a:rPr lang="ko-KR" sz="1800" dirty="0">
                <a:solidFill>
                  <a:srgbClr val="FFFFFF"/>
                </a:solidFill>
                <a:latin typeface="Pretendard"/>
                <a:ea typeface="Pretendard"/>
              </a:rPr>
              <a:t>안전하고 빠르게 도달</a:t>
            </a:r>
          </a:p>
          <a:p>
            <a:pPr algn="ctr">
              <a:spcBef>
                <a:spcPts val="200"/>
              </a:spcBef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= 하네스 엔지니어링</a:t>
            </a:r>
          </a:p>
        </p:txBody>
      </p:sp>
    </p:spTree>
    <p:extLst>
      <p:ext uri="{BB962C8B-B14F-4D97-AF65-F5344CB8AC3E}">
        <p14:creationId xmlns:p14="http://schemas.microsoft.com/office/powerpoint/2010/main" val="160864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457200" y="15240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sz="5400" b="1">
                <a:solidFill>
                  <a:srgbClr val="7B5EA7"/>
                </a:solidFill>
                <a:latin typeface="Pretendard"/>
                <a:ea typeface="Pretendard"/>
              </a:rPr>
              <a:t>oh-my-gx</a:t>
            </a:r>
            <a:endParaRPr lang="en-US" sz="5400" b="1" dirty="0">
              <a:solidFill>
                <a:srgbClr val="7B5EA7"/>
              </a:solidFill>
              <a:latin typeface="Pretendard"/>
              <a:ea typeface="Pretendard"/>
            </a:endParaRPr>
          </a:p>
        </p:txBody>
      </p:sp>
      <p:sp>
        <p:nvSpPr>
          <p:cNvPr id="11" name="S11"/>
          <p:cNvSpPr/>
          <p:nvPr/>
        </p:nvSpPr>
        <p:spPr>
          <a:xfrm>
            <a:off x="457200" y="2794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2400">
                <a:solidFill>
                  <a:srgbClr val="4A4A4A"/>
                </a:solidFill>
                <a:latin typeface="Pretendard"/>
                <a:ea typeface="Pretendard"/>
              </a:rPr>
              <a:t>하네스를 패키징</a:t>
            </a:r>
            <a:r>
              <a:rPr lang="ko-KR" altLang="en-US" sz="2400">
                <a:solidFill>
                  <a:srgbClr val="4A4A4A"/>
                </a:solidFill>
                <a:latin typeface="Pretendard"/>
                <a:ea typeface="Pretendard"/>
              </a:rPr>
              <a:t>하여 누구나 쓸 수 있게 한 것이</a:t>
            </a:r>
            <a:r>
              <a:rPr lang="ko-KR" sz="2400">
                <a:solidFill>
                  <a:srgbClr val="4A4A4A"/>
                </a:solidFill>
                <a:latin typeface="Pretendard"/>
                <a:ea typeface="Pretendard"/>
              </a:rPr>
              <a:t> </a:t>
            </a:r>
            <a:r>
              <a:rPr lang="ko-KR" sz="2400" dirty="0">
                <a:solidFill>
                  <a:srgbClr val="4A4A4A"/>
                </a:solidFill>
                <a:latin typeface="Pretendard"/>
                <a:ea typeface="Pretendard"/>
              </a:rPr>
              <a:t>플러그인</a:t>
            </a:r>
          </a:p>
        </p:txBody>
      </p:sp>
      <p:sp>
        <p:nvSpPr>
          <p:cNvPr id="12" name="S12"/>
          <p:cNvSpPr/>
          <p:nvPr/>
        </p:nvSpPr>
        <p:spPr>
          <a:xfrm>
            <a:off x="457200" y="3429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altLang="ko-KR" sz="2400">
                <a:solidFill>
                  <a:srgbClr val="4A4A4A"/>
                </a:solidFill>
                <a:latin typeface="Pretendard"/>
                <a:ea typeface="Pretendard"/>
              </a:rPr>
              <a:t>GX </a:t>
            </a:r>
            <a:r>
              <a:rPr lang="ko-KR" altLang="en-US" sz="2400">
                <a:solidFill>
                  <a:srgbClr val="4A4A4A"/>
                </a:solidFill>
                <a:latin typeface="Pretendard"/>
                <a:ea typeface="Pretendard"/>
              </a:rPr>
              <a:t>사업본부 개발자를 위한 </a:t>
            </a:r>
            <a:r>
              <a:rPr lang="en-US" altLang="ko-KR" sz="2400">
                <a:solidFill>
                  <a:srgbClr val="4A4A4A"/>
                </a:solidFill>
                <a:latin typeface="Pretendard"/>
                <a:ea typeface="Pretendard"/>
              </a:rPr>
              <a:t>Claude Code </a:t>
            </a:r>
            <a:r>
              <a:rPr lang="ko-KR" altLang="en-US" sz="2400">
                <a:solidFill>
                  <a:srgbClr val="4A4A4A"/>
                </a:solidFill>
                <a:latin typeface="Pretendard"/>
                <a:ea typeface="Pretendard"/>
              </a:rPr>
              <a:t>개발 </a:t>
            </a:r>
            <a:r>
              <a:rPr lang="ko-KR" sz="2400">
                <a:solidFill>
                  <a:srgbClr val="4A4A4A"/>
                </a:solidFill>
                <a:latin typeface="Pretendard"/>
                <a:ea typeface="Pretendard"/>
              </a:rPr>
              <a:t>플러그인</a:t>
            </a:r>
            <a:r>
              <a:rPr lang="en-US" altLang="ko-KR" sz="2400">
                <a:solidFill>
                  <a:srgbClr val="4A4A4A"/>
                </a:solidFill>
                <a:latin typeface="Pretendard"/>
                <a:ea typeface="Pretendard"/>
              </a:rPr>
              <a:t>, oh-my-gx</a:t>
            </a:r>
            <a:endParaRPr lang="ko-KR" sz="2400" dirty="0">
              <a:solidFill>
                <a:srgbClr val="4A4A4A"/>
              </a:solidFill>
              <a:latin typeface="Pretendard"/>
              <a:ea typeface="Pretendard"/>
            </a:endParaRPr>
          </a:p>
        </p:txBody>
      </p:sp>
      <p:sp>
        <p:nvSpPr>
          <p:cNvPr id="20" name="S20"/>
          <p:cNvSpPr/>
          <p:nvPr/>
        </p:nvSpPr>
        <p:spPr>
          <a:xfrm>
            <a:off x="1524000" y="4318000"/>
            <a:ext cx="9144000" cy="1016000"/>
          </a:xfrm>
          <a:prstGeom prst="roundRect">
            <a:avLst/>
          </a:prstGeom>
          <a:solidFill>
            <a:srgbClr val="7B5EA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Pretendard"/>
                <a:ea typeface="Pretendard"/>
              </a:rPr>
              <a:t>PRD → 설계 → 구현 → 리뷰 → PR까지</a:t>
            </a:r>
          </a:p>
          <a:p>
            <a:pPr algn="ctr">
              <a:spcBef>
                <a:spcPts val="400"/>
              </a:spcBef>
            </a:pPr>
            <a:r>
              <a:rPr lang="ko-KR" sz="1800" dirty="0">
                <a:solidFill>
                  <a:srgbClr val="FFFFFF"/>
                </a:solidFill>
                <a:latin typeface="Pretendard"/>
                <a:ea typeface="Pretendard"/>
              </a:rPr>
              <a:t>에이전트 팀이 처리합니다</a:t>
            </a:r>
          </a:p>
        </p:txBody>
      </p:sp>
    </p:spTree>
    <p:extLst>
      <p:ext uri="{BB962C8B-B14F-4D97-AF65-F5344CB8AC3E}">
        <p14:creationId xmlns:p14="http://schemas.microsoft.com/office/powerpoint/2010/main" val="400153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" name="Title"/>
          <p:cNvSpPr txBox="1"/>
          <p:nvPr/>
        </p:nvSpPr>
        <p:spPr>
          <a:xfrm>
            <a:off x="457200" y="457200"/>
            <a:ext cx="11277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AI 코딩, 이런 경험 없으세요?</a:t>
            </a:r>
          </a:p>
        </p:txBody>
      </p:sp>
      <p:sp>
        <p:nvSpPr>
          <p:cNvPr id="21" name="Card1"/>
          <p:cNvSpPr/>
          <p:nvPr/>
        </p:nvSpPr>
        <p:spPr>
          <a:xfrm>
            <a:off x="1021080" y="228600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컨텍스트 유실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대화가 길어지면</a:t>
            </a:r>
          </a:p>
          <a:p>
            <a:pPr algn="ctr"/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앞에서 한 말을 까먹는다</a:t>
            </a:r>
          </a:p>
        </p:txBody>
      </p:sp>
      <p:sp>
        <p:nvSpPr>
          <p:cNvPr id="22" name="Card2"/>
          <p:cNvSpPr/>
          <p:nvPr/>
        </p:nvSpPr>
        <p:spPr>
          <a:xfrm>
            <a:off x="4495800" y="228600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수동 반복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커밋 → PR → 리뷰 요청,</a:t>
            </a:r>
          </a:p>
          <a:p>
            <a:pPr algn="ctr"/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매번 같은 루틴</a:t>
            </a:r>
          </a:p>
        </p:txBody>
      </p:sp>
      <p:sp>
        <p:nvSpPr>
          <p:cNvPr id="23" name="Card3"/>
          <p:cNvSpPr/>
          <p:nvPr/>
        </p:nvSpPr>
        <p:spPr>
          <a:xfrm>
            <a:off x="7970520" y="228600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품질 편차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같은 요청인데</a:t>
            </a:r>
          </a:p>
          <a:p>
            <a:pPr algn="ctr"/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결과가 매번 다르다</a:t>
            </a:r>
          </a:p>
        </p:txBody>
      </p:sp>
      <p:sp>
        <p:nvSpPr>
          <p:cNvPr id="24" name="Note"/>
          <p:cNvSpPr txBox="1"/>
          <p:nvPr/>
        </p:nvSpPr>
        <p:spPr>
          <a:xfrm>
            <a:off x="457200" y="5089236"/>
            <a:ext cx="1127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ko-KR" sz="1400" dirty="0">
                <a:solidFill>
                  <a:srgbClr val="AAAAAA"/>
                </a:solidFill>
                <a:latin typeface="Pretendard"/>
                <a:ea typeface="Pretendard"/>
              </a:rPr>
              <a:t>개발자가 AI를 '도구'로 쓰는 한, 이 루틴에서 벗어날 수 없음</a:t>
            </a:r>
          </a:p>
        </p:txBody>
      </p:sp>
    </p:spTree>
    <p:extLst>
      <p:ext uri="{BB962C8B-B14F-4D97-AF65-F5344CB8AC3E}">
        <p14:creationId xmlns:p14="http://schemas.microsoft.com/office/powerpoint/2010/main" val="122571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" name="Title"/>
          <p:cNvSpPr txBox="1"/>
          <p:nvPr/>
        </p:nvSpPr>
        <p:spPr>
          <a:xfrm>
            <a:off x="457200" y="508000"/>
            <a:ext cx="11277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alt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oh-my-gx </a:t>
            </a:r>
            <a:r>
              <a:rPr lang="ko-KR" altLang="en-US" sz="3200" b="1" dirty="0">
                <a:solidFill>
                  <a:srgbClr val="1A1A1A"/>
                </a:solidFill>
                <a:latin typeface="Pretendard"/>
                <a:ea typeface="Pretendard"/>
              </a:rPr>
              <a:t>도입 후 변화</a:t>
            </a:r>
          </a:p>
        </p:txBody>
      </p:sp>
      <p:sp>
        <p:nvSpPr>
          <p:cNvPr id="51" name="HeaderBg"/>
          <p:cNvSpPr/>
          <p:nvPr/>
        </p:nvSpPr>
        <p:spPr>
          <a:xfrm>
            <a:off x="902855" y="1727200"/>
            <a:ext cx="10515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endParaRPr lang="ko-KR" dirty="0"/>
          </a:p>
        </p:txBody>
      </p:sp>
      <p:sp>
        <p:nvSpPr>
          <p:cNvPr id="52" name="Hdr0"/>
          <p:cNvSpPr txBox="1"/>
          <p:nvPr/>
        </p:nvSpPr>
        <p:spPr>
          <a:xfrm>
            <a:off x="902855" y="1727200"/>
            <a:ext cx="228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600" b="1" dirty="0">
                <a:solidFill>
                  <a:srgbClr val="878787"/>
                </a:solidFill>
                <a:latin typeface="Pretendard"/>
                <a:ea typeface="Pretendard"/>
              </a:rPr>
              <a:t>항목</a:t>
            </a:r>
          </a:p>
        </p:txBody>
      </p:sp>
      <p:sp>
        <p:nvSpPr>
          <p:cNvPr id="53" name="Hdr1"/>
          <p:cNvSpPr txBox="1"/>
          <p:nvPr/>
        </p:nvSpPr>
        <p:spPr>
          <a:xfrm>
            <a:off x="3188855" y="172720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600" b="1" dirty="0">
                <a:solidFill>
                  <a:srgbClr val="C94545"/>
                </a:solidFill>
                <a:latin typeface="Pretendard"/>
                <a:ea typeface="Pretendard"/>
              </a:rPr>
              <a:t>Before</a:t>
            </a:r>
          </a:p>
        </p:txBody>
      </p:sp>
      <p:sp>
        <p:nvSpPr>
          <p:cNvPr id="55" name="Hdr3"/>
          <p:cNvSpPr txBox="1"/>
          <p:nvPr/>
        </p:nvSpPr>
        <p:spPr>
          <a:xfrm>
            <a:off x="7760855" y="172720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600" b="1" dirty="0">
                <a:solidFill>
                  <a:srgbClr val="2D8C4E"/>
                </a:solidFill>
                <a:latin typeface="Pretendard"/>
                <a:ea typeface="Pretendard"/>
              </a:rPr>
              <a:t>After</a:t>
            </a:r>
          </a:p>
        </p:txBody>
      </p:sp>
      <p:sp>
        <p:nvSpPr>
          <p:cNvPr id="60" name="RowBg0"/>
          <p:cNvSpPr/>
          <p:nvPr/>
        </p:nvSpPr>
        <p:spPr>
          <a:xfrm>
            <a:off x="902855" y="2235200"/>
            <a:ext cx="10515600" cy="64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Label0"/>
          <p:cNvSpPr txBox="1"/>
          <p:nvPr/>
        </p:nvSpPr>
        <p:spPr>
          <a:xfrm>
            <a:off x="902855" y="2235200"/>
            <a:ext cx="2286000" cy="640000"/>
          </a:xfrm>
          <a:prstGeom prst="rect">
            <a:avLst/>
          </a:prstGeom>
          <a:noFill/>
        </p:spPr>
        <p:txBody>
          <a:bodyPr wrap="square" lIns="182880" anchor="ctr"/>
          <a:lstStyle/>
          <a:p>
            <a:pPr algn="l"/>
            <a:r>
              <a:rPr lang="ko-KR" sz="1800" b="1" dirty="0">
                <a:solidFill>
                  <a:srgbClr val="1A1A1A"/>
                </a:solidFill>
                <a:latin typeface="Pretendard"/>
                <a:ea typeface="Pretendard"/>
              </a:rPr>
              <a:t>개발 시작</a:t>
            </a:r>
          </a:p>
        </p:txBody>
      </p:sp>
      <p:sp>
        <p:nvSpPr>
          <p:cNvPr id="62" name="Before0"/>
          <p:cNvSpPr txBox="1"/>
          <p:nvPr/>
        </p:nvSpPr>
        <p:spPr>
          <a:xfrm>
            <a:off x="3188855" y="223520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C94545"/>
                </a:solidFill>
                <a:latin typeface="Pretendard"/>
                <a:ea typeface="Pretendard"/>
              </a:rPr>
              <a:t>매번 처음부터 설명</a:t>
            </a:r>
          </a:p>
        </p:txBody>
      </p:sp>
      <p:sp>
        <p:nvSpPr>
          <p:cNvPr id="63" name="Arrow0"/>
          <p:cNvSpPr txBox="1"/>
          <p:nvPr/>
        </p:nvSpPr>
        <p:spPr>
          <a:xfrm>
            <a:off x="6846455" y="2235200"/>
            <a:ext cx="9144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400" b="1" dirty="0">
                <a:solidFill>
                  <a:srgbClr val="7B5EA7"/>
                </a:solidFill>
                <a:latin typeface="Pretendard"/>
              </a:rPr>
              <a:t>→</a:t>
            </a:r>
          </a:p>
        </p:txBody>
      </p:sp>
      <p:sp>
        <p:nvSpPr>
          <p:cNvPr id="64" name="After0"/>
          <p:cNvSpPr txBox="1"/>
          <p:nvPr/>
        </p:nvSpPr>
        <p:spPr>
          <a:xfrm>
            <a:off x="7760855" y="223520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2D8C4E"/>
                </a:solidFill>
                <a:latin typeface="Pretendard"/>
                <a:ea typeface="Pretendard"/>
              </a:rPr>
              <a:t>context에서 즉시 로드</a:t>
            </a:r>
          </a:p>
        </p:txBody>
      </p:sp>
      <p:sp>
        <p:nvSpPr>
          <p:cNvPr id="65" name="RowBg1"/>
          <p:cNvSpPr/>
          <p:nvPr/>
        </p:nvSpPr>
        <p:spPr>
          <a:xfrm>
            <a:off x="902855" y="2966720"/>
            <a:ext cx="10515600" cy="6400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Label1"/>
          <p:cNvSpPr txBox="1"/>
          <p:nvPr/>
        </p:nvSpPr>
        <p:spPr>
          <a:xfrm>
            <a:off x="902855" y="2966720"/>
            <a:ext cx="2286000" cy="640000"/>
          </a:xfrm>
          <a:prstGeom prst="rect">
            <a:avLst/>
          </a:prstGeom>
          <a:noFill/>
        </p:spPr>
        <p:txBody>
          <a:bodyPr wrap="square" lIns="182880" anchor="ctr"/>
          <a:lstStyle/>
          <a:p>
            <a:pPr algn="l"/>
            <a:r>
              <a:rPr lang="ko-KR" sz="1800" b="1" dirty="0">
                <a:solidFill>
                  <a:srgbClr val="1A1A1A"/>
                </a:solidFill>
                <a:latin typeface="Pretendard"/>
                <a:ea typeface="Pretendard"/>
              </a:rPr>
              <a:t>커밋/PR</a:t>
            </a:r>
          </a:p>
        </p:txBody>
      </p:sp>
      <p:sp>
        <p:nvSpPr>
          <p:cNvPr id="67" name="Before1"/>
          <p:cNvSpPr txBox="1"/>
          <p:nvPr/>
        </p:nvSpPr>
        <p:spPr>
          <a:xfrm>
            <a:off x="3188855" y="296672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C94545"/>
                </a:solidFill>
                <a:latin typeface="Pretendard"/>
                <a:ea typeface="Pretendard"/>
              </a:rPr>
              <a:t>수동 작성</a:t>
            </a:r>
          </a:p>
        </p:txBody>
      </p:sp>
      <p:sp>
        <p:nvSpPr>
          <p:cNvPr id="68" name="Arrow1"/>
          <p:cNvSpPr txBox="1"/>
          <p:nvPr/>
        </p:nvSpPr>
        <p:spPr>
          <a:xfrm>
            <a:off x="6846455" y="2966720"/>
            <a:ext cx="9144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400" b="1" dirty="0">
                <a:solidFill>
                  <a:srgbClr val="7B5EA7"/>
                </a:solidFill>
                <a:latin typeface="Pretendard"/>
              </a:rPr>
              <a:t>→</a:t>
            </a:r>
          </a:p>
        </p:txBody>
      </p:sp>
      <p:sp>
        <p:nvSpPr>
          <p:cNvPr id="69" name="After1"/>
          <p:cNvSpPr txBox="1"/>
          <p:nvPr/>
        </p:nvSpPr>
        <p:spPr>
          <a:xfrm>
            <a:off x="7760855" y="296672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2D8C4E"/>
                </a:solidFill>
                <a:latin typeface="Pretendard"/>
                <a:ea typeface="Pretendard"/>
              </a:rPr>
              <a:t>자연어 한 줄로 자동</a:t>
            </a:r>
          </a:p>
        </p:txBody>
      </p:sp>
      <p:sp>
        <p:nvSpPr>
          <p:cNvPr id="70" name="RowBg2"/>
          <p:cNvSpPr/>
          <p:nvPr/>
        </p:nvSpPr>
        <p:spPr>
          <a:xfrm>
            <a:off x="902855" y="3698240"/>
            <a:ext cx="10515600" cy="64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Label2"/>
          <p:cNvSpPr txBox="1"/>
          <p:nvPr/>
        </p:nvSpPr>
        <p:spPr>
          <a:xfrm>
            <a:off x="902855" y="3698240"/>
            <a:ext cx="2286000" cy="640000"/>
          </a:xfrm>
          <a:prstGeom prst="rect">
            <a:avLst/>
          </a:prstGeom>
          <a:noFill/>
        </p:spPr>
        <p:txBody>
          <a:bodyPr wrap="square" lIns="182880" anchor="ctr"/>
          <a:lstStyle/>
          <a:p>
            <a:pPr algn="l"/>
            <a:r>
              <a:rPr lang="ko-KR" sz="1800" b="1" dirty="0">
                <a:solidFill>
                  <a:srgbClr val="1A1A1A"/>
                </a:solidFill>
                <a:latin typeface="Pretendard"/>
                <a:ea typeface="Pretendard"/>
              </a:rPr>
              <a:t>코드 리뷰</a:t>
            </a:r>
          </a:p>
        </p:txBody>
      </p:sp>
      <p:sp>
        <p:nvSpPr>
          <p:cNvPr id="72" name="Before2"/>
          <p:cNvSpPr txBox="1"/>
          <p:nvPr/>
        </p:nvSpPr>
        <p:spPr>
          <a:xfrm>
            <a:off x="3188855" y="369824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C94545"/>
                </a:solidFill>
                <a:latin typeface="Pretendard"/>
                <a:ea typeface="Pretendard"/>
              </a:rPr>
              <a:t>사람이 전부</a:t>
            </a:r>
          </a:p>
        </p:txBody>
      </p:sp>
      <p:sp>
        <p:nvSpPr>
          <p:cNvPr id="73" name="Arrow2"/>
          <p:cNvSpPr txBox="1"/>
          <p:nvPr/>
        </p:nvSpPr>
        <p:spPr>
          <a:xfrm>
            <a:off x="6846455" y="3698240"/>
            <a:ext cx="9144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400" b="1" dirty="0">
                <a:solidFill>
                  <a:srgbClr val="7B5EA7"/>
                </a:solidFill>
                <a:latin typeface="Pretendard"/>
              </a:rPr>
              <a:t>→</a:t>
            </a:r>
          </a:p>
        </p:txBody>
      </p:sp>
      <p:sp>
        <p:nvSpPr>
          <p:cNvPr id="74" name="After2"/>
          <p:cNvSpPr txBox="1"/>
          <p:nvPr/>
        </p:nvSpPr>
        <p:spPr>
          <a:xfrm>
            <a:off x="7760855" y="369824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2D8C4E"/>
                </a:solidFill>
                <a:latin typeface="Pretendard"/>
                <a:ea typeface="Pretendard"/>
              </a:rPr>
              <a:t>QA+보안 에이전트 선행</a:t>
            </a:r>
          </a:p>
        </p:txBody>
      </p:sp>
      <p:sp>
        <p:nvSpPr>
          <p:cNvPr id="75" name="RowBg3"/>
          <p:cNvSpPr/>
          <p:nvPr/>
        </p:nvSpPr>
        <p:spPr>
          <a:xfrm>
            <a:off x="902855" y="4429760"/>
            <a:ext cx="10515600" cy="6400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Label3"/>
          <p:cNvSpPr txBox="1"/>
          <p:nvPr/>
        </p:nvSpPr>
        <p:spPr>
          <a:xfrm>
            <a:off x="902855" y="4429760"/>
            <a:ext cx="2286000" cy="640000"/>
          </a:xfrm>
          <a:prstGeom prst="rect">
            <a:avLst/>
          </a:prstGeom>
          <a:noFill/>
        </p:spPr>
        <p:txBody>
          <a:bodyPr wrap="square" lIns="182880" anchor="ctr"/>
          <a:lstStyle/>
          <a:p>
            <a:pPr algn="l"/>
            <a:r>
              <a:rPr lang="ko-KR" sz="1800" b="1" dirty="0">
                <a:solidFill>
                  <a:srgbClr val="1A1A1A"/>
                </a:solidFill>
                <a:latin typeface="Pretendard"/>
                <a:ea typeface="Pretendard"/>
              </a:rPr>
              <a:t>도메인 지식</a:t>
            </a:r>
          </a:p>
        </p:txBody>
      </p:sp>
      <p:sp>
        <p:nvSpPr>
          <p:cNvPr id="77" name="Before3"/>
          <p:cNvSpPr txBox="1"/>
          <p:nvPr/>
        </p:nvSpPr>
        <p:spPr>
          <a:xfrm>
            <a:off x="3188855" y="442976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C94545"/>
                </a:solidFill>
                <a:latin typeface="Pretendard"/>
                <a:ea typeface="Pretendard"/>
              </a:rPr>
              <a:t>대화마다 유실</a:t>
            </a:r>
          </a:p>
        </p:txBody>
      </p:sp>
      <p:sp>
        <p:nvSpPr>
          <p:cNvPr id="78" name="Arrow3"/>
          <p:cNvSpPr txBox="1"/>
          <p:nvPr/>
        </p:nvSpPr>
        <p:spPr>
          <a:xfrm>
            <a:off x="6846455" y="4429760"/>
            <a:ext cx="9144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400" b="1" dirty="0">
                <a:solidFill>
                  <a:srgbClr val="7B5EA7"/>
                </a:solidFill>
                <a:latin typeface="Pretendard"/>
              </a:rPr>
              <a:t>→</a:t>
            </a:r>
          </a:p>
        </p:txBody>
      </p:sp>
      <p:sp>
        <p:nvSpPr>
          <p:cNvPr id="79" name="After3"/>
          <p:cNvSpPr txBox="1"/>
          <p:nvPr/>
        </p:nvSpPr>
        <p:spPr>
          <a:xfrm>
            <a:off x="7760855" y="442976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2D8C4E"/>
                </a:solidFill>
                <a:latin typeface="Pretendard"/>
                <a:ea typeface="Pretendard"/>
              </a:rPr>
              <a:t>context/에 축적·환류</a:t>
            </a:r>
          </a:p>
        </p:txBody>
      </p:sp>
      <p:sp>
        <p:nvSpPr>
          <p:cNvPr id="80" name="RowBg4"/>
          <p:cNvSpPr/>
          <p:nvPr/>
        </p:nvSpPr>
        <p:spPr>
          <a:xfrm>
            <a:off x="902855" y="5161280"/>
            <a:ext cx="10515600" cy="64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Label4"/>
          <p:cNvSpPr txBox="1"/>
          <p:nvPr/>
        </p:nvSpPr>
        <p:spPr>
          <a:xfrm>
            <a:off x="902855" y="5161280"/>
            <a:ext cx="2286000" cy="640000"/>
          </a:xfrm>
          <a:prstGeom prst="rect">
            <a:avLst/>
          </a:prstGeom>
          <a:noFill/>
        </p:spPr>
        <p:txBody>
          <a:bodyPr wrap="square" lIns="182880" anchor="ctr"/>
          <a:lstStyle/>
          <a:p>
            <a:pPr algn="l"/>
            <a:r>
              <a:rPr lang="ko-KR" sz="1800" b="1" dirty="0">
                <a:solidFill>
                  <a:srgbClr val="1A1A1A"/>
                </a:solidFill>
                <a:latin typeface="Pretendard"/>
                <a:ea typeface="Pretendard"/>
              </a:rPr>
              <a:t>적용 범위</a:t>
            </a:r>
          </a:p>
        </p:txBody>
      </p:sp>
      <p:sp>
        <p:nvSpPr>
          <p:cNvPr id="82" name="Before4"/>
          <p:cNvSpPr txBox="1"/>
          <p:nvPr/>
        </p:nvSpPr>
        <p:spPr>
          <a:xfrm>
            <a:off x="3188855" y="516128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C94545"/>
                </a:solidFill>
                <a:latin typeface="Pretendard"/>
                <a:ea typeface="Pretendard"/>
              </a:rPr>
              <a:t>특정 스택 전용</a:t>
            </a:r>
          </a:p>
        </p:txBody>
      </p:sp>
      <p:sp>
        <p:nvSpPr>
          <p:cNvPr id="83" name="Arrow4"/>
          <p:cNvSpPr txBox="1"/>
          <p:nvPr/>
        </p:nvSpPr>
        <p:spPr>
          <a:xfrm>
            <a:off x="6846455" y="5161280"/>
            <a:ext cx="9144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400" b="1" dirty="0">
                <a:solidFill>
                  <a:srgbClr val="7B5EA7"/>
                </a:solidFill>
                <a:latin typeface="Pretendard"/>
              </a:rPr>
              <a:t>→</a:t>
            </a:r>
          </a:p>
        </p:txBody>
      </p:sp>
      <p:sp>
        <p:nvSpPr>
          <p:cNvPr id="84" name="After4"/>
          <p:cNvSpPr txBox="1"/>
          <p:nvPr/>
        </p:nvSpPr>
        <p:spPr>
          <a:xfrm>
            <a:off x="7760855" y="5161280"/>
            <a:ext cx="3657600" cy="6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sz="1400" dirty="0">
                <a:solidFill>
                  <a:srgbClr val="2D8C4E"/>
                </a:solidFill>
                <a:latin typeface="Pretendard"/>
                <a:ea typeface="Pretendard"/>
              </a:rPr>
              <a:t>어떤 언어·프레임워크든</a:t>
            </a:r>
          </a:p>
        </p:txBody>
      </p:sp>
    </p:spTree>
    <p:extLst>
      <p:ext uri="{BB962C8B-B14F-4D97-AF65-F5344CB8AC3E}">
        <p14:creationId xmlns:p14="http://schemas.microsoft.com/office/powerpoint/2010/main" val="367049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09600" y="304800"/>
            <a:ext cx="10972800" cy="482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altLang="ko-KR" sz="2800" b="1" dirty="0">
                <a:solidFill>
                  <a:srgbClr val="1A1A1A"/>
                </a:solidFill>
                <a:latin typeface="Pretendard"/>
                <a:ea typeface="Pretendard"/>
              </a:rPr>
              <a:t>oh-my-gx</a:t>
            </a:r>
            <a:r>
              <a:rPr lang="ko-KR" altLang="en-US" sz="2800" b="1" dirty="0">
                <a:solidFill>
                  <a:srgbClr val="1A1A1A"/>
                </a:solidFill>
                <a:latin typeface="Pretendard"/>
                <a:ea typeface="Pretendard"/>
              </a:rPr>
              <a:t>의 7개 스킬</a:t>
            </a:r>
          </a:p>
        </p:txBody>
      </p:sp>
      <p:sp>
        <p:nvSpPr>
          <p:cNvPr id="11" name="S11"/>
          <p:cNvSpPr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200" b="1" dirty="0">
                <a:solidFill>
                  <a:srgbClr val="7B5EA7"/>
                </a:solidFill>
                <a:latin typeface="Pretendard"/>
                <a:ea typeface="Pretendard"/>
              </a:rPr>
              <a:t>개발 사이클</a:t>
            </a:r>
          </a:p>
        </p:txBody>
      </p:sp>
      <p:sp>
        <p:nvSpPr>
          <p:cNvPr id="12" name="S12"/>
          <p:cNvSpPr/>
          <p:nvPr/>
        </p:nvSpPr>
        <p:spPr>
          <a:xfrm>
            <a:off x="609600" y="1778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gx-dev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6 Phase 오케스트레이터
PRD→설계→구현→리뷰→PR</a:t>
            </a:r>
          </a:p>
        </p:txBody>
      </p:sp>
      <p:sp>
        <p:nvSpPr>
          <p:cNvPr id="13" name="S13"/>
          <p:cNvSpPr/>
          <p:nvPr/>
        </p:nvSpPr>
        <p:spPr>
          <a:xfrm>
            <a:off x="3378200" y="1778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gx-commit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브랜치 타입 파싱
한국어 메시지 + 민감파일 감지</a:t>
            </a:r>
          </a:p>
        </p:txBody>
      </p:sp>
      <p:sp>
        <p:nvSpPr>
          <p:cNvPr id="14" name="S14"/>
          <p:cNvSpPr/>
          <p:nvPr/>
        </p:nvSpPr>
        <p:spPr>
          <a:xfrm>
            <a:off x="6146800" y="1778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gx-pull-request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커밋 히스토리 분석
PR 자동 생성</a:t>
            </a:r>
          </a:p>
        </p:txBody>
      </p:sp>
      <p:sp>
        <p:nvSpPr>
          <p:cNvPr id="18" name="S18"/>
          <p:cNvSpPr/>
          <p:nvPr/>
        </p:nvSpPr>
        <p:spPr>
          <a:xfrm>
            <a:off x="609600" y="3098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200" b="1" dirty="0">
                <a:solidFill>
                  <a:srgbClr val="7B5EA7"/>
                </a:solidFill>
                <a:latin typeface="Pretendard"/>
                <a:ea typeface="Pretendard"/>
              </a:rPr>
              <a:t>도메인 &amp; 분석</a:t>
            </a:r>
          </a:p>
        </p:txBody>
      </p:sp>
      <p:sp>
        <p:nvSpPr>
          <p:cNvPr id="19" name="S19"/>
          <p:cNvSpPr/>
          <p:nvPr/>
        </p:nvSpPr>
        <p:spPr>
          <a:xfrm>
            <a:off x="609600" y="3429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gx-context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프로젝트의 캐시된 두뇌
5가지 모드</a:t>
            </a:r>
          </a:p>
        </p:txBody>
      </p:sp>
      <p:sp>
        <p:nvSpPr>
          <p:cNvPr id="20" name="S20"/>
          <p:cNvSpPr/>
          <p:nvPr/>
        </p:nvSpPr>
        <p:spPr>
          <a:xfrm>
            <a:off x="3378200" y="3429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gx-lens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코드→비즈니스 정책
보고서 (읽기 전용)</a:t>
            </a:r>
          </a:p>
        </p:txBody>
      </p:sp>
      <p:sp>
        <p:nvSpPr>
          <p:cNvPr id="21" name="S21"/>
          <p:cNvSpPr/>
          <p:nvPr/>
        </p:nvSpPr>
        <p:spPr>
          <a:xfrm>
            <a:off x="6146800" y="3429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gx-research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웹 검색 + 교차 검증
리서치</a:t>
            </a:r>
          </a:p>
        </p:txBody>
      </p:sp>
      <p:sp>
        <p:nvSpPr>
          <p:cNvPr id="22" name="S22"/>
          <p:cNvSpPr/>
          <p:nvPr/>
        </p:nvSpPr>
        <p:spPr>
          <a:xfrm>
            <a:off x="609600" y="4749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200" b="1" dirty="0">
                <a:solidFill>
                  <a:srgbClr val="7B5EA7"/>
                </a:solidFill>
                <a:latin typeface="Pretendard"/>
                <a:ea typeface="Pretendard"/>
              </a:rPr>
              <a:t>교정</a:t>
            </a:r>
          </a:p>
        </p:txBody>
      </p:sp>
      <p:sp>
        <p:nvSpPr>
          <p:cNvPr id="24" name="S24"/>
          <p:cNvSpPr/>
          <p:nvPr/>
        </p:nvSpPr>
        <p:spPr>
          <a:xfrm>
            <a:off x="609600" y="5080000"/>
            <a:ext cx="2667000" cy="736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gx-humanizer</a:t>
            </a:r>
          </a:p>
          <a:p>
            <a:pPr algn="l">
              <a:spcBef>
                <a:spcPts val="200"/>
              </a:spcBef>
            </a:pPr>
            <a:r>
              <a:rPr lang="ko-KR" sz="900" dirty="0">
                <a:solidFill>
                  <a:srgbClr val="5A5A5A"/>
                </a:solidFill>
                <a:latin typeface="Pretendard"/>
                <a:ea typeface="Pretendard"/>
              </a:rPr>
              <a:t>40+ AI 글쓰기 패턴
감지/교정</a:t>
            </a:r>
          </a:p>
        </p:txBody>
      </p:sp>
    </p:spTree>
    <p:extLst>
      <p:ext uri="{BB962C8B-B14F-4D97-AF65-F5344CB8AC3E}">
        <p14:creationId xmlns:p14="http://schemas.microsoft.com/office/powerpoint/2010/main" val="67950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09600" y="9144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7B5EA7"/>
                </a:solidFill>
                <a:latin typeface="Pretendard"/>
                <a:ea typeface="Pretendard"/>
              </a:rPr>
              <a:t>/gx-context</a:t>
            </a:r>
            <a:r>
              <a:rPr lang="ko-KR" sz="2800" b="1" dirty="0">
                <a:solidFill>
                  <a:srgbClr val="1A1A1A"/>
                </a:solidFill>
                <a:latin typeface="Pretendard"/>
                <a:ea typeface="Pretendard"/>
              </a:rPr>
              <a:t> — 프로젝트의 캐시된 두뇌 만들기</a:t>
            </a:r>
          </a:p>
        </p:txBody>
      </p:sp>
      <p:sp>
        <p:nvSpPr>
          <p:cNvPr id="11" name="S11"/>
          <p:cNvSpPr/>
          <p:nvPr/>
        </p:nvSpPr>
        <p:spPr>
          <a:xfrm>
            <a:off x="609600" y="16637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ko-KR" sz="1800">
                <a:solidFill>
                  <a:srgbClr val="878787"/>
                </a:solidFill>
                <a:latin typeface="Pretendard"/>
                <a:ea typeface="Pretendard"/>
              </a:rPr>
              <a:t>매번 </a:t>
            </a:r>
            <a:r>
              <a:rPr lang="ko-KR" sz="1800" dirty="0">
                <a:solidFill>
                  <a:srgbClr val="878787"/>
                </a:solidFill>
                <a:latin typeface="Pretendard"/>
                <a:ea typeface="Pretendard"/>
              </a:rPr>
              <a:t>소스 풀스캔? → context에서 </a:t>
            </a:r>
            <a:r>
              <a:rPr lang="ko-KR" sz="1800">
                <a:solidFill>
                  <a:srgbClr val="878787"/>
                </a:solidFill>
                <a:latin typeface="Pretendard"/>
                <a:ea typeface="Pretendard"/>
              </a:rPr>
              <a:t>먼저 꺼낸다</a:t>
            </a:r>
            <a:endParaRPr lang="en-US" altLang="ko-KR" sz="18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l"/>
            <a:r>
              <a:rPr lang="en-US" altLang="ko-KR">
                <a:solidFill>
                  <a:srgbClr val="878787"/>
                </a:solidFill>
                <a:latin typeface="Pretendard"/>
                <a:ea typeface="Pretendard"/>
              </a:rPr>
              <a:t>/sef-d</a:t>
            </a:r>
            <a:r>
              <a:rPr lang="en-US" altLang="ko-KR" sz="1800">
                <a:solidFill>
                  <a:srgbClr val="878787"/>
                </a:solidFill>
                <a:latin typeface="Pretendard"/>
                <a:ea typeface="Pretendard"/>
              </a:rPr>
              <a:t>ev </a:t>
            </a:r>
            <a:r>
              <a:rPr lang="ko-KR" altLang="en-US" sz="1800">
                <a:solidFill>
                  <a:srgbClr val="878787"/>
                </a:solidFill>
                <a:latin typeface="Pretendard"/>
                <a:ea typeface="Pretendard"/>
              </a:rPr>
              <a:t>파이프라인이 불필요한 토큰 소모 없이</a:t>
            </a:r>
            <a:r>
              <a:rPr lang="en-US" altLang="ko-KR" sz="1800">
                <a:solidFill>
                  <a:srgbClr val="878787"/>
                </a:solidFill>
                <a:latin typeface="Pretendard"/>
                <a:ea typeface="Pretendard"/>
              </a:rPr>
              <a:t>, </a:t>
            </a:r>
            <a:r>
              <a:rPr lang="ko-KR" altLang="en-US" sz="1800">
                <a:solidFill>
                  <a:srgbClr val="878787"/>
                </a:solidFill>
                <a:latin typeface="Pretendard"/>
                <a:ea typeface="Pretendard"/>
              </a:rPr>
              <a:t>더욱 똑똑하게 개발 가능</a:t>
            </a:r>
            <a:endParaRPr lang="ko-KR" sz="1800" dirty="0">
              <a:solidFill>
                <a:srgbClr val="878787"/>
              </a:solidFill>
              <a:latin typeface="Pretendard"/>
              <a:ea typeface="Pretendard"/>
            </a:endParaRPr>
          </a:p>
        </p:txBody>
      </p:sp>
      <p:sp>
        <p:nvSpPr>
          <p:cNvPr id="20" name="S20"/>
          <p:cNvSpPr/>
          <p:nvPr/>
        </p:nvSpPr>
        <p:spPr>
          <a:xfrm>
            <a:off x="609600" y="2476500"/>
            <a:ext cx="5334000" cy="952500"/>
          </a:xfrm>
          <a:prstGeom prst="roundRect">
            <a:avLst/>
          </a:prstGeom>
          <a:solidFill>
            <a:srgbClr val="F5E8E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C94545"/>
                </a:solidFill>
                <a:latin typeface="Pretendard"/>
                <a:ea typeface="Pretendard"/>
              </a:rPr>
              <a:t>❌  매번 DB 풀스캔</a:t>
            </a:r>
          </a:p>
          <a:p>
            <a:pPr algn="l">
              <a:spcBef>
                <a:spcPts val="400"/>
              </a:spcBef>
            </a:pPr>
            <a:r>
              <a:rPr lang="ko-KR" sz="1600" dirty="0">
                <a:solidFill>
                  <a:srgbClr val="5A5A5A"/>
                </a:solidFill>
                <a:latin typeface="Pretendard"/>
                <a:ea typeface="Pretendard"/>
              </a:rPr>
              <a:t>소스코드 전체 분석 → 느리고 토큰 낭비</a:t>
            </a:r>
          </a:p>
        </p:txBody>
      </p:sp>
      <p:sp>
        <p:nvSpPr>
          <p:cNvPr id="25" name="S25"/>
          <p:cNvSpPr/>
          <p:nvPr/>
        </p:nvSpPr>
        <p:spPr>
          <a:xfrm>
            <a:off x="3048000" y="3429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2000" b="1" dirty="0">
                <a:solidFill>
                  <a:srgbClr val="AAAAAA"/>
                </a:solidFill>
                <a:latin typeface="Pretendard"/>
              </a:rPr>
              <a:t>↓</a:t>
            </a:r>
          </a:p>
        </p:txBody>
      </p:sp>
      <p:sp>
        <p:nvSpPr>
          <p:cNvPr id="21" name="S21"/>
          <p:cNvSpPr/>
          <p:nvPr/>
        </p:nvSpPr>
        <p:spPr>
          <a:xfrm>
            <a:off x="609600" y="3632200"/>
            <a:ext cx="5334000" cy="952500"/>
          </a:xfrm>
          <a:prstGeom prst="roundRect">
            <a:avLst/>
          </a:prstGeom>
          <a:solidFill>
            <a:srgbClr val="E8F5E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2E7D32"/>
                </a:solidFill>
                <a:latin typeface="Pretendard"/>
                <a:ea typeface="Pretendard"/>
              </a:rPr>
              <a:t>✅  Redis 캐시 (context)</a:t>
            </a:r>
          </a:p>
          <a:p>
            <a:pPr algn="l">
              <a:spcBef>
                <a:spcPts val="400"/>
              </a:spcBef>
            </a:pPr>
            <a:r>
              <a:rPr lang="ko-KR" sz="1600" dirty="0">
                <a:solidFill>
                  <a:srgbClr val="5A5A5A"/>
                </a:solidFill>
                <a:latin typeface="Pretendard"/>
                <a:ea typeface="Pretendard"/>
              </a:rPr>
              <a:t>도메인 지식 즉시 로드 → 타겟팅 탐색</a:t>
            </a:r>
          </a:p>
        </p:txBody>
      </p:sp>
      <p:sp>
        <p:nvSpPr>
          <p:cNvPr id="30" name="S30"/>
          <p:cNvSpPr/>
          <p:nvPr/>
        </p:nvSpPr>
        <p:spPr>
          <a:xfrm>
            <a:off x="6248400" y="2476500"/>
            <a:ext cx="5334000" cy="2108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400"/>
              </a:spcAft>
            </a:pPr>
            <a:r>
              <a:rPr lang="en-US" sz="1800" b="1">
                <a:solidFill>
                  <a:srgbClr val="7B5EA7"/>
                </a:solidFill>
                <a:latin typeface="Consolas"/>
                <a:ea typeface="Pretendard"/>
              </a:rPr>
              <a:t>context/</a:t>
            </a:r>
            <a:r>
              <a:rPr lang="ko-KR" altLang="en-US" b="1">
                <a:solidFill>
                  <a:srgbClr val="7B5EA7"/>
                </a:solidFill>
                <a:latin typeface="Consolas"/>
                <a:ea typeface="Pretendard"/>
              </a:rPr>
              <a:t>쾌적성분석</a:t>
            </a:r>
            <a:r>
              <a:rPr lang="en-US" sz="1800" b="1">
                <a:solidFill>
                  <a:srgbClr val="7B5EA7"/>
                </a:solidFill>
                <a:latin typeface="Consolas"/>
                <a:ea typeface="Pretendard"/>
              </a:rPr>
              <a:t>/</a:t>
            </a:r>
            <a:endParaRPr lang="en-US" sz="1800" b="1" dirty="0">
              <a:solidFill>
                <a:srgbClr val="7B5EA7"/>
              </a:solidFill>
              <a:latin typeface="Consolas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Consolas"/>
                <a:ea typeface="Pretendard"/>
              </a:rPr>
              <a:t>├── README.md</a:t>
            </a:r>
            <a:r>
              <a:rPr lang="ko-KR" sz="1500" dirty="0">
                <a:solidFill>
                  <a:srgbClr val="878787"/>
                </a:solidFill>
                <a:latin typeface="Pretendard"/>
                <a:ea typeface="Pretendard"/>
              </a:rPr>
              <a:t>     ← 도메인 한 장 요약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Consolas"/>
                <a:ea typeface="Pretendard"/>
              </a:rPr>
              <a:t>├── glossary.md</a:t>
            </a:r>
            <a:r>
              <a:rPr lang="ko-KR" sz="1500" dirty="0">
                <a:solidFill>
                  <a:srgbClr val="878787"/>
                </a:solidFill>
                <a:latin typeface="Pretendard"/>
                <a:ea typeface="Pretendard"/>
              </a:rPr>
              <a:t>   ← 용어 사전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Consolas"/>
                <a:ea typeface="Pretendard"/>
              </a:rPr>
              <a:t>├── architecture.md</a:t>
            </a:r>
            <a:r>
              <a:rPr lang="ko-KR" sz="1500" dirty="0">
                <a:solidFill>
                  <a:srgbClr val="878787"/>
                </a:solidFill>
                <a:latin typeface="Pretendard"/>
                <a:ea typeface="Pretendard"/>
              </a:rPr>
              <a:t> ← 서비스 연결 구조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Consolas"/>
                <a:ea typeface="Pretendard"/>
              </a:rPr>
              <a:t>├── PROJECTS.md</a:t>
            </a:r>
            <a:r>
              <a:rPr lang="ko-KR" sz="1500" dirty="0">
                <a:solidFill>
                  <a:srgbClr val="878787"/>
                </a:solidFill>
                <a:latin typeface="Pretendard"/>
                <a:ea typeface="Pretendard"/>
              </a:rPr>
              <a:t>  ← 연결된 레포 목록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333333"/>
                </a:solidFill>
                <a:latin typeface="Consolas"/>
                <a:ea typeface="Pretendard"/>
              </a:rPr>
              <a:t>└── status.md</a:t>
            </a:r>
            <a:r>
              <a:rPr lang="ko-KR" sz="1500" dirty="0">
                <a:solidFill>
                  <a:srgbClr val="878787"/>
                </a:solidFill>
                <a:latin typeface="Pretendard"/>
                <a:ea typeface="Pretendard"/>
              </a:rPr>
              <a:t>     ← 기능별 구현 현황 ⬜/✅</a:t>
            </a:r>
          </a:p>
        </p:txBody>
      </p:sp>
      <p:sp>
        <p:nvSpPr>
          <p:cNvPr id="40" name="S40"/>
          <p:cNvSpPr/>
          <p:nvPr/>
        </p:nvSpPr>
        <p:spPr>
          <a:xfrm>
            <a:off x="609600" y="4889500"/>
            <a:ext cx="10972800" cy="508000"/>
          </a:xfrm>
          <a:prstGeom prst="roundRect">
            <a:avLst/>
          </a:prstGeom>
          <a:solidFill>
            <a:srgbClr val="7B5EA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retendard"/>
                <a:ea typeface="Pretendard"/>
              </a:rPr>
              <a:t>"context가 있으면 </a:t>
            </a:r>
            <a:r>
              <a:rPr lang="en-US" sz="2000" b="1">
                <a:solidFill>
                  <a:srgbClr val="FFFFFF"/>
                </a:solidFill>
                <a:latin typeface="Pretendard"/>
                <a:ea typeface="Pretendard"/>
              </a:rPr>
              <a:t>에이전트가 첫 </a:t>
            </a:r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</a:rPr>
              <a:t>요청</a:t>
            </a:r>
            <a:r>
              <a:rPr lang="en-US" sz="2000" b="1">
                <a:solidFill>
                  <a:srgbClr val="FFFFFF"/>
                </a:solidFill>
                <a:latin typeface="Pretendard"/>
                <a:ea typeface="Pretendard"/>
              </a:rPr>
              <a:t>부터 </a:t>
            </a:r>
            <a:r>
              <a:rPr lang="en-US" sz="2000" b="1" dirty="0">
                <a:solidFill>
                  <a:srgbClr val="FFFFFF"/>
                </a:solidFill>
                <a:latin typeface="Pretendard"/>
                <a:ea typeface="Pretendard"/>
              </a:rPr>
              <a:t>3년차처럼 일한다"</a:t>
            </a:r>
          </a:p>
        </p:txBody>
      </p:sp>
      <p:sp>
        <p:nvSpPr>
          <p:cNvPr id="41" name="S41"/>
          <p:cNvSpPr/>
          <p:nvPr/>
        </p:nvSpPr>
        <p:spPr>
          <a:xfrm>
            <a:off x="609600" y="54737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1400" dirty="0">
                <a:solidFill>
                  <a:srgbClr val="878787"/>
                </a:solidFill>
                <a:latin typeface="Pretendard"/>
                <a:ea typeface="Pretendard"/>
              </a:rPr>
              <a:t>5가지 모드 — Q&amp;A 생성 / 문서 기반 / 코드베이스 스캔 / 갱신 / git 동기화</a:t>
            </a:r>
          </a:p>
        </p:txBody>
      </p:sp>
    </p:spTree>
    <p:extLst>
      <p:ext uri="{BB962C8B-B14F-4D97-AF65-F5344CB8AC3E}">
        <p14:creationId xmlns:p14="http://schemas.microsoft.com/office/powerpoint/2010/main" val="53935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09600" y="11049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7B5EA7"/>
                </a:solidFill>
                <a:latin typeface="Pretendard"/>
                <a:ea typeface="Pretendard"/>
              </a:rPr>
              <a:t>/gx-dev</a:t>
            </a:r>
            <a:r>
              <a:rPr lang="ko-KR" sz="2800" b="1" dirty="0">
                <a:solidFill>
                  <a:srgbClr val="1A1A1A"/>
                </a:solidFill>
                <a:latin typeface="Pretendard"/>
                <a:ea typeface="Pretendard"/>
              </a:rPr>
              <a:t> — 6단계 자동 개발 파이프라인.. 근데 경량을 곁들인</a:t>
            </a:r>
          </a:p>
        </p:txBody>
      </p:sp>
      <p:sp>
        <p:nvSpPr>
          <p:cNvPr id="20" name="S20"/>
          <p:cNvSpPr/>
          <p:nvPr/>
        </p:nvSpPr>
        <p:spPr>
          <a:xfrm>
            <a:off x="609600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setup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환경 준비</a:t>
            </a:r>
          </a:p>
        </p:txBody>
      </p:sp>
      <p:sp>
        <p:nvSpPr>
          <p:cNvPr id="50" name="S50"/>
          <p:cNvSpPr/>
          <p:nvPr/>
        </p:nvSpPr>
        <p:spPr>
          <a:xfrm>
            <a:off x="2353733" y="23749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21" name="S21"/>
          <p:cNvSpPr/>
          <p:nvPr/>
        </p:nvSpPr>
        <p:spPr>
          <a:xfrm>
            <a:off x="2455333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requirements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PRD 작성</a:t>
            </a:r>
          </a:p>
        </p:txBody>
      </p:sp>
      <p:sp>
        <p:nvSpPr>
          <p:cNvPr id="51" name="S51"/>
          <p:cNvSpPr/>
          <p:nvPr/>
        </p:nvSpPr>
        <p:spPr>
          <a:xfrm>
            <a:off x="4199466" y="23749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22" name="S22"/>
          <p:cNvSpPr/>
          <p:nvPr/>
        </p:nvSpPr>
        <p:spPr>
          <a:xfrm>
            <a:off x="4301066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design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기술 설계</a:t>
            </a:r>
          </a:p>
        </p:txBody>
      </p:sp>
      <p:sp>
        <p:nvSpPr>
          <p:cNvPr id="52" name="S52"/>
          <p:cNvSpPr/>
          <p:nvPr/>
        </p:nvSpPr>
        <p:spPr>
          <a:xfrm>
            <a:off x="6045200" y="23749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23" name="S23"/>
          <p:cNvSpPr/>
          <p:nvPr/>
        </p:nvSpPr>
        <p:spPr>
          <a:xfrm>
            <a:off x="6146800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implement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코드 구현</a:t>
            </a:r>
          </a:p>
        </p:txBody>
      </p:sp>
      <p:sp>
        <p:nvSpPr>
          <p:cNvPr id="53" name="S53"/>
          <p:cNvSpPr/>
          <p:nvPr/>
        </p:nvSpPr>
        <p:spPr>
          <a:xfrm>
            <a:off x="7890933" y="23749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24" name="S24"/>
          <p:cNvSpPr/>
          <p:nvPr/>
        </p:nvSpPr>
        <p:spPr>
          <a:xfrm>
            <a:off x="7992533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review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리뷰 검증</a:t>
            </a:r>
          </a:p>
        </p:txBody>
      </p:sp>
      <p:sp>
        <p:nvSpPr>
          <p:cNvPr id="54" name="S54"/>
          <p:cNvSpPr/>
          <p:nvPr/>
        </p:nvSpPr>
        <p:spPr>
          <a:xfrm>
            <a:off x="9736666" y="23749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25" name="S25"/>
          <p:cNvSpPr/>
          <p:nvPr/>
        </p:nvSpPr>
        <p:spPr>
          <a:xfrm>
            <a:off x="9838266" y="1993900"/>
            <a:ext cx="1744133" cy="101600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7B5EA7"/>
                </a:solidFill>
                <a:latin typeface="Pretendard"/>
                <a:ea typeface="Pretendard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lang="en-US" sz="1400" b="1" dirty="0">
                <a:solidFill>
                  <a:srgbClr val="1A1A1A"/>
                </a:solidFill>
                <a:latin typeface="Pretendard"/>
                <a:ea typeface="Pretendard"/>
              </a:rPr>
              <a:t>complete</a:t>
            </a:r>
          </a:p>
          <a:p>
            <a:pPr algn="ctr">
              <a:spcBef>
                <a:spcPts val="1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커밋+PR</a:t>
            </a:r>
          </a:p>
        </p:txBody>
      </p:sp>
      <p:sp>
        <p:nvSpPr>
          <p:cNvPr id="60" name="S60"/>
          <p:cNvSpPr/>
          <p:nvPr/>
        </p:nvSpPr>
        <p:spPr>
          <a:xfrm>
            <a:off x="609600" y="3517900"/>
            <a:ext cx="3505200" cy="1143000"/>
          </a:xfrm>
          <a:prstGeom prst="roundRect">
            <a:avLst/>
          </a:prstGeom>
          <a:solidFill>
            <a:srgbClr val="FFF0E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Pretendard"/>
                <a:ea typeface="Pretendard"/>
              </a:rPr>
              <a:t>NORMAL</a:t>
            </a:r>
          </a:p>
          <a:p>
            <a:pPr algn="l">
              <a:spcBef>
                <a:spcPts val="200"/>
              </a:spcBef>
            </a:pPr>
            <a:r>
              <a:rPr lang="ko-KR" sz="1400" b="1" dirty="0">
                <a:solidFill>
                  <a:srgbClr val="1A1A1A"/>
                </a:solidFill>
                <a:latin typeface="Pretendard"/>
                <a:ea typeface="Pretendard"/>
              </a:rPr>
              <a:t>전체 사이클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878787"/>
                </a:solidFill>
                <a:latin typeface="Pretendard"/>
                <a:ea typeface="Pretendard"/>
              </a:rPr>
              <a:t>PRD → 설계 → 구현 → 리뷰 → PR</a:t>
            </a:r>
          </a:p>
        </p:txBody>
      </p:sp>
      <p:sp>
        <p:nvSpPr>
          <p:cNvPr id="61" name="S61"/>
          <p:cNvSpPr/>
          <p:nvPr/>
        </p:nvSpPr>
        <p:spPr>
          <a:xfrm>
            <a:off x="4343400" y="3517900"/>
            <a:ext cx="3505200" cy="1143000"/>
          </a:xfrm>
          <a:prstGeom prst="roundRect">
            <a:avLst/>
          </a:prstGeom>
          <a:solidFill>
            <a:srgbClr val="FFF8E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Pretendard"/>
                <a:ea typeface="Pretendard"/>
              </a:rPr>
              <a:t>HOTFIX</a:t>
            </a:r>
          </a:p>
          <a:p>
            <a:pPr algn="l">
              <a:spcBef>
                <a:spcPts val="200"/>
              </a:spcBef>
            </a:pPr>
            <a:r>
              <a:rPr lang="ko-KR" sz="1400" b="1" dirty="0">
                <a:solidFill>
                  <a:srgbClr val="1A1A1A"/>
                </a:solidFill>
                <a:latin typeface="Pretendard"/>
                <a:ea typeface="Pretendard"/>
              </a:rPr>
              <a:t>"긴급 수정해줘"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878787"/>
                </a:solidFill>
                <a:latin typeface="Pretendard"/>
                <a:ea typeface="Pretendard"/>
              </a:rPr>
              <a:t>설계/리뷰 생략 → 바로 수정</a:t>
            </a:r>
          </a:p>
        </p:txBody>
      </p:sp>
      <p:sp>
        <p:nvSpPr>
          <p:cNvPr id="62" name="S62"/>
          <p:cNvSpPr/>
          <p:nvPr/>
        </p:nvSpPr>
        <p:spPr>
          <a:xfrm>
            <a:off x="8077200" y="3517900"/>
            <a:ext cx="3505200" cy="1143000"/>
          </a:xfrm>
          <a:prstGeom prst="roundRect">
            <a:avLst/>
          </a:prstGeom>
          <a:solidFill>
            <a:srgbClr val="EBF4F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Pretendard"/>
                <a:ea typeface="Pretendard"/>
              </a:rPr>
              <a:t>IMPLEMENT</a:t>
            </a:r>
          </a:p>
          <a:p>
            <a:pPr algn="l">
              <a:spcBef>
                <a:spcPts val="200"/>
              </a:spcBef>
            </a:pPr>
            <a:r>
              <a:rPr lang="ko-KR" sz="1400" b="1" dirty="0">
                <a:solidFill>
                  <a:srgbClr val="1A1A1A"/>
                </a:solidFill>
                <a:latin typeface="Pretendard"/>
                <a:ea typeface="Pretendard"/>
              </a:rPr>
              <a:t>"구현만 해줘"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878787"/>
                </a:solidFill>
                <a:latin typeface="Pretendard"/>
                <a:ea typeface="Pretendard"/>
              </a:rPr>
              <a:t>바로 코딩 → 빠른 결과</a:t>
            </a:r>
          </a:p>
        </p:txBody>
      </p:sp>
      <p:sp>
        <p:nvSpPr>
          <p:cNvPr id="70" name="S70"/>
          <p:cNvSpPr/>
          <p:nvPr/>
        </p:nvSpPr>
        <p:spPr>
          <a:xfrm>
            <a:off x="609600" y="5295900"/>
            <a:ext cx="10972800" cy="457200"/>
          </a:xfrm>
          <a:prstGeom prst="roundRect">
            <a:avLst/>
          </a:prstGeom>
          <a:solidFill>
            <a:srgbClr val="7B5EA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특정 Phase만 실행 가능 — "PRD만", "설계만", "리뷰만"</a:t>
            </a:r>
          </a:p>
        </p:txBody>
      </p:sp>
    </p:spTree>
    <p:extLst>
      <p:ext uri="{BB962C8B-B14F-4D97-AF65-F5344CB8AC3E}">
        <p14:creationId xmlns:p14="http://schemas.microsoft.com/office/powerpoint/2010/main" val="93158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0" name="Title"/>
          <p:cNvSpPr/>
          <p:nvPr/>
        </p:nvSpPr>
        <p:spPr>
          <a:xfrm>
            <a:off x="609600" y="457200"/>
            <a:ext cx="10972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개발 외에도 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— 분석</a:t>
            </a:r>
            <a:r>
              <a:rPr lang="en-US" altLang="ko-KR" sz="3200" b="1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·</a:t>
            </a:r>
            <a:r>
              <a:rPr lang="en-US" altLang="ko-KR" sz="3200" b="1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리서치</a:t>
            </a:r>
            <a:r>
              <a:rPr lang="en-US" altLang="ko-KR" sz="3200" b="1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·</a:t>
            </a:r>
            <a:r>
              <a:rPr lang="en-US" altLang="ko-KR" sz="3200" b="1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교정</a:t>
            </a:r>
            <a:endParaRPr lang="ko-KR" sz="3200" b="1" dirty="0">
              <a:solidFill>
                <a:srgbClr val="1A1A1A"/>
              </a:solidFill>
              <a:latin typeface="Pretendard"/>
              <a:ea typeface="Pretendard"/>
            </a:endParaRPr>
          </a:p>
        </p:txBody>
      </p:sp>
      <p:sp>
        <p:nvSpPr>
          <p:cNvPr id="210" name="Card210"/>
          <p:cNvSpPr/>
          <p:nvPr/>
        </p:nvSpPr>
        <p:spPr>
          <a:xfrm>
            <a:off x="762000" y="1269999"/>
            <a:ext cx="3454400" cy="5397495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152400" tIns="190500" rIns="152400" bIns="152400" anchor="t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Consolas"/>
                <a:ea typeface="Pretendard"/>
              </a:rPr>
              <a:t>/gx-research</a:t>
            </a:r>
          </a:p>
          <a:p>
            <a:pPr algn="l">
              <a:spcBef>
                <a:spcPts val="6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웹 검색 + 문서 교차 검증
출처가 명확한 리서치 보고서
비교표·요약·상세 3가지 형식</a:t>
            </a:r>
          </a:p>
          <a:p>
            <a:pPr algn="l">
              <a:spcBef>
                <a:spcPts val="800"/>
              </a:spcBef>
            </a:pPr>
            <a:r>
              <a:rPr lang="en-US" altLang="ko-KR" sz="1200">
                <a:solidFill>
                  <a:srgbClr val="AAAAAA"/>
                </a:solidFill>
                <a:latin typeface="Pretendard"/>
                <a:ea typeface="Pretendard"/>
              </a:rPr>
              <a:t>“/gx-research </a:t>
            </a:r>
            <a:r>
              <a:rPr lang="ko-KR" altLang="en-US" sz="1200">
                <a:solidFill>
                  <a:srgbClr val="AAAAAA"/>
                </a:solidFill>
                <a:latin typeface="Pretendard"/>
                <a:ea typeface="Pretendard"/>
              </a:rPr>
              <a:t>행안부 검색 </a:t>
            </a:r>
            <a:r>
              <a:rPr lang="en-US" altLang="ko-KR" sz="1200">
                <a:solidFill>
                  <a:srgbClr val="AAAAAA"/>
                </a:solidFill>
                <a:latin typeface="Pretendard"/>
                <a:ea typeface="Pretendard"/>
              </a:rPr>
              <a:t>API</a:t>
            </a:r>
            <a:r>
              <a:rPr lang="ko-KR" altLang="en-US" sz="1200">
                <a:solidFill>
                  <a:srgbClr val="AAAAAA"/>
                </a:solidFill>
                <a:latin typeface="Pretendard"/>
                <a:ea typeface="Pretendard"/>
              </a:rPr>
              <a:t>와 카카오 우편번호 서비스 비교해줘</a:t>
            </a:r>
            <a:r>
              <a:rPr lang="en-US" altLang="ko-KR" sz="1200">
                <a:solidFill>
                  <a:srgbClr val="AAAAAA"/>
                </a:solidFill>
                <a:latin typeface="Pretendard"/>
                <a:ea typeface="Pretendard"/>
              </a:rPr>
              <a:t>.</a:t>
            </a:r>
            <a:r>
              <a:rPr lang="ko-KR" sz="1200">
                <a:solidFill>
                  <a:srgbClr val="AAAAAA"/>
                </a:solidFill>
                <a:latin typeface="Pretendard"/>
                <a:ea typeface="Pretendard"/>
              </a:rPr>
              <a:t>"</a:t>
            </a:r>
            <a:endParaRPr lang="ko-KR" sz="1200" dirty="0">
              <a:solidFill>
                <a:srgbClr val="AAAAAA"/>
              </a:solidFill>
              <a:latin typeface="Pretendard"/>
              <a:ea typeface="Pretendard"/>
            </a:endParaRPr>
          </a:p>
        </p:txBody>
      </p:sp>
      <p:sp>
        <p:nvSpPr>
          <p:cNvPr id="220" name="Bar220"/>
          <p:cNvSpPr/>
          <p:nvPr/>
        </p:nvSpPr>
        <p:spPr>
          <a:xfrm>
            <a:off x="762000" y="1270000"/>
            <a:ext cx="50800" cy="4572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1" name="Card211"/>
          <p:cNvSpPr/>
          <p:nvPr/>
        </p:nvSpPr>
        <p:spPr>
          <a:xfrm>
            <a:off x="4521200" y="1269999"/>
            <a:ext cx="3454400" cy="5397495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152400" tIns="190500" rIns="152400" bIns="152400" anchor="t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Consolas"/>
                <a:ea typeface="Pretendard"/>
              </a:rPr>
              <a:t>/gx-lens</a:t>
            </a:r>
          </a:p>
          <a:p>
            <a:pPr algn="l">
              <a:spcBef>
                <a:spcPts val="6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현행 코드에서 비즈니스 정책 탐지
변경 시 영향 범위 자동 분석
PO/PD가 읽을 수 있는 보고서</a:t>
            </a:r>
          </a:p>
          <a:p>
            <a:pPr algn="l">
              <a:spcBef>
                <a:spcPts val="800"/>
              </a:spcBef>
            </a:pPr>
            <a:r>
              <a:rPr lang="ko-KR" sz="1200">
                <a:solidFill>
                  <a:srgbClr val="AAAAAA"/>
                </a:solidFill>
                <a:latin typeface="Pretendard"/>
                <a:ea typeface="Pretendard"/>
              </a:rPr>
              <a:t>“</a:t>
            </a:r>
            <a:r>
              <a:rPr lang="en-US" altLang="ko-KR" sz="1200">
                <a:solidFill>
                  <a:srgbClr val="AAAAAA"/>
                </a:solidFill>
                <a:latin typeface="Pretendard"/>
                <a:ea typeface="Pretendard"/>
              </a:rPr>
              <a:t>/gx-lens </a:t>
            </a:r>
            <a:r>
              <a:rPr lang="ko-KR" altLang="en-US" sz="1200">
                <a:solidFill>
                  <a:srgbClr val="AAAAAA"/>
                </a:solidFill>
                <a:latin typeface="Pretendard"/>
                <a:ea typeface="Pretendard"/>
              </a:rPr>
              <a:t>로그인 및 회원가입 비즈니스 정책 제시</a:t>
            </a:r>
            <a:r>
              <a:rPr lang="ko-KR" sz="1200">
                <a:solidFill>
                  <a:srgbClr val="AAAAAA"/>
                </a:solidFill>
                <a:latin typeface="Pretendard"/>
                <a:ea typeface="Pretendard"/>
              </a:rPr>
              <a:t>＂</a:t>
            </a:r>
            <a:endParaRPr lang="ko-KR" sz="1200" dirty="0">
              <a:solidFill>
                <a:srgbClr val="AAAAAA"/>
              </a:solidFill>
              <a:latin typeface="Pretendard"/>
              <a:ea typeface="Pretendard"/>
            </a:endParaRPr>
          </a:p>
        </p:txBody>
      </p:sp>
      <p:sp>
        <p:nvSpPr>
          <p:cNvPr id="221" name="Bar221"/>
          <p:cNvSpPr/>
          <p:nvPr/>
        </p:nvSpPr>
        <p:spPr>
          <a:xfrm>
            <a:off x="4521200" y="1270000"/>
            <a:ext cx="50800" cy="4572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2" name="Card212"/>
          <p:cNvSpPr/>
          <p:nvPr/>
        </p:nvSpPr>
        <p:spPr>
          <a:xfrm>
            <a:off x="8280400" y="1270000"/>
            <a:ext cx="3454400" cy="539749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152400" tIns="190500" rIns="152400" bIns="152400" anchor="t"/>
          <a:lstStyle/>
          <a:p>
            <a:pPr algn="l"/>
            <a:r>
              <a:rPr lang="en-US" sz="1800" b="1" dirty="0">
                <a:solidFill>
                  <a:srgbClr val="7B5EA7"/>
                </a:solidFill>
                <a:latin typeface="Consolas"/>
                <a:ea typeface="Pretendard"/>
              </a:rPr>
              <a:t>/gx-humanizer</a:t>
            </a:r>
          </a:p>
          <a:p>
            <a:pPr algn="l">
              <a:spcBef>
                <a:spcPts val="600"/>
              </a:spcBef>
            </a:pP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AI가 쓴 티를 자동 감지 (40+ 패턴)
기술문서·블로그·마케팅 유형별 교정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>
              <a:spcBef>
                <a:spcPts val="600"/>
              </a:spcBef>
            </a:pPr>
            <a:r>
              <a:rPr lang="ko-KR" altLang="ko-KR" sz="1400">
                <a:solidFill>
                  <a:srgbClr val="AAAAAA"/>
                </a:solidFill>
                <a:latin typeface="Pretendard"/>
                <a:ea typeface="Pretendard"/>
              </a:rPr>
              <a:t>“</a:t>
            </a:r>
            <a:r>
              <a:rPr lang="en-US" altLang="ko-KR" sz="1400">
                <a:solidFill>
                  <a:srgbClr val="AAAAAA"/>
                </a:solidFill>
                <a:latin typeface="Pretendard"/>
                <a:ea typeface="Pretendard"/>
              </a:rPr>
              <a:t>/gx-humanizer </a:t>
            </a:r>
            <a:r>
              <a:rPr lang="ko-KR" altLang="ko-KR" sz="1400">
                <a:solidFill>
                  <a:srgbClr val="AAAAAA"/>
                </a:solidFill>
                <a:latin typeface="Pretendard"/>
                <a:ea typeface="Pretendard"/>
              </a:rPr>
              <a:t>이 문서 AI 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티 제거해주고</a:t>
            </a:r>
            <a:r>
              <a:rPr lang="en-US" altLang="ko-KR" sz="1400">
                <a:solidFill>
                  <a:srgbClr val="AAAAAA"/>
                </a:solidFill>
                <a:latin typeface="Pretendard"/>
                <a:ea typeface="Pretendard"/>
              </a:rPr>
              <a:t>, ~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습니다 말투로 교정해줘</a:t>
            </a:r>
            <a:r>
              <a:rPr lang="en-US" altLang="ko-KR" sz="1400">
                <a:solidFill>
                  <a:srgbClr val="AAAAAA"/>
                </a:solidFill>
                <a:latin typeface="Pretendard"/>
                <a:ea typeface="Pretendard"/>
              </a:rPr>
              <a:t>.</a:t>
            </a:r>
            <a:r>
              <a:rPr lang="ko-KR" altLang="ko-KR" sz="1400">
                <a:solidFill>
                  <a:srgbClr val="AAAAAA"/>
                </a:solidFill>
                <a:latin typeface="Pretendard"/>
                <a:ea typeface="Pretendard"/>
              </a:rPr>
              <a:t>“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
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Pretendard"/>
                <a:ea typeface="Pretendard"/>
              </a:rPr>
              <a:t>오늘날 클라우드 네이티브 기술은 현대 소프트웨어 개발에 있어서  혁신적인 변화를 가져오고 있습니다</a:t>
            </a:r>
            <a:r>
              <a:rPr lang="en-US" altLang="ko-KR" sz="1400">
                <a:solidFill>
                  <a:srgbClr val="FF0000"/>
                </a:solidFill>
                <a:latin typeface="Pretendard"/>
                <a:ea typeface="Pretendard"/>
              </a:rPr>
              <a:t>. </a:t>
            </a:r>
            <a:r>
              <a:rPr lang="ko-KR" altLang="en-US" sz="1400">
                <a:solidFill>
                  <a:srgbClr val="FF0000"/>
                </a:solidFill>
                <a:latin typeface="Pretendard"/>
                <a:ea typeface="Pretendard"/>
              </a:rPr>
              <a:t>이를 통해 개발자들은 효율적으로  애플리케이션을 구축할 수 있으며</a:t>
            </a:r>
            <a:r>
              <a:rPr lang="en-US" altLang="ko-KR" sz="1400">
                <a:solidFill>
                  <a:srgbClr val="FF0000"/>
                </a:solidFill>
                <a:latin typeface="Pretendard"/>
                <a:ea typeface="Pretendard"/>
              </a:rPr>
              <a:t>, </a:t>
            </a:r>
            <a:r>
              <a:rPr lang="ko-KR" altLang="en-US" sz="1400">
                <a:solidFill>
                  <a:srgbClr val="FF0000"/>
                </a:solidFill>
                <a:latin typeface="Pretendard"/>
                <a:ea typeface="Pretendard"/>
              </a:rPr>
              <a:t>체계적인 배포 파이프라인을 활용하여 탁월한  성과를 달성할 수 있습니다</a:t>
            </a:r>
            <a:r>
              <a:rPr lang="en-US" altLang="ko-KR" sz="1400">
                <a:solidFill>
                  <a:srgbClr val="FF0000"/>
                </a:solidFill>
                <a:latin typeface="Pretendard"/>
                <a:ea typeface="Pretendard"/>
              </a:rPr>
              <a:t>. 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 </a:t>
            </a:r>
          </a:p>
          <a:p>
            <a:pPr>
              <a:spcBef>
                <a:spcPts val="600"/>
              </a:spcBef>
            </a:pP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감지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: P1 6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건  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P2 2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건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>
              <a:spcBef>
                <a:spcPts val="600"/>
              </a:spcBef>
            </a:pP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· K1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과장수식어 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혁신적인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", “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탁월한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”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등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>
              <a:spcBef>
                <a:spcPts val="600"/>
              </a:spcBef>
            </a:pP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· K16 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구축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 → 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만들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", 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활용하여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 →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삭제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, 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탁월한 성과를 달성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 → "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한결 수월해졌습니다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 (K2,  K16)</a:t>
            </a:r>
          </a:p>
          <a:p>
            <a:pPr>
              <a:spcBef>
                <a:spcPts val="600"/>
              </a:spcBef>
            </a:pP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교정 후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>
              <a:spcBef>
                <a:spcPts val="600"/>
              </a:spcBef>
            </a:pP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</a:t>
            </a:r>
            <a:r>
              <a:rPr lang="ko-KR" altLang="en-US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클라우드 네이티브 기술 덕분에 소프트웨어 개발 방식이 많이 달라졌습니다</a:t>
            </a:r>
            <a:r>
              <a:rPr lang="en-US" altLang="ko-KR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. </a:t>
            </a:r>
            <a:r>
              <a:rPr lang="ko-KR" altLang="en-US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개발자들이  애플리케이션을 더 빠르게 만들 수 있고</a:t>
            </a:r>
            <a:r>
              <a:rPr lang="en-US" altLang="ko-KR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, </a:t>
            </a:r>
            <a:r>
              <a:rPr lang="ko-KR" altLang="en-US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배포 과정도 한결 수월해졌습니다</a:t>
            </a:r>
            <a:r>
              <a:rPr lang="en-US" altLang="ko-KR" sz="1400" b="1">
                <a:solidFill>
                  <a:schemeClr val="accent1">
                    <a:lumMod val="75000"/>
                  </a:schemeClr>
                </a:solidFill>
                <a:latin typeface="Pretendard"/>
                <a:ea typeface="Pretendard"/>
              </a:rPr>
              <a:t>. 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"</a:t>
            </a:r>
            <a:endParaRPr lang="ko-KR" sz="1400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l">
              <a:spcBef>
                <a:spcPts val="800"/>
              </a:spcBef>
            </a:pPr>
            <a:endParaRPr lang="en-US" altLang="ko-KR" sz="1200">
              <a:solidFill>
                <a:srgbClr val="AAAAAA"/>
              </a:solidFill>
              <a:latin typeface="Pretendard"/>
              <a:ea typeface="Pretendard"/>
            </a:endParaRPr>
          </a:p>
          <a:p>
            <a:pPr algn="l">
              <a:spcBef>
                <a:spcPts val="800"/>
              </a:spcBef>
            </a:pPr>
            <a:endParaRPr lang="ko-KR" sz="1200" dirty="0">
              <a:solidFill>
                <a:srgbClr val="AAAAAA"/>
              </a:solidFill>
              <a:latin typeface="Pretendard"/>
              <a:ea typeface="Pretendard"/>
            </a:endParaRPr>
          </a:p>
        </p:txBody>
      </p:sp>
      <p:sp>
        <p:nvSpPr>
          <p:cNvPr id="222" name="Bar222"/>
          <p:cNvSpPr/>
          <p:nvPr/>
        </p:nvSpPr>
        <p:spPr>
          <a:xfrm>
            <a:off x="8280400" y="1270000"/>
            <a:ext cx="50800" cy="4572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6A13AC-CEE0-FA60-6218-D06182E8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41" y="3115733"/>
            <a:ext cx="3113959" cy="3401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6696B8-6353-C5CF-DC62-B7336D964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241" y="3115734"/>
            <a:ext cx="3090181" cy="34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20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609600" y="457200"/>
            <a:ext cx="10972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어떤 프로젝트든 적용 가능</a:t>
            </a:r>
          </a:p>
        </p:txBody>
      </p:sp>
      <p:sp>
        <p:nvSpPr>
          <p:cNvPr id="20" name="Stack0"/>
          <p:cNvSpPr/>
          <p:nvPr/>
        </p:nvSpPr>
        <p:spPr>
          <a:xfrm>
            <a:off x="609600" y="1270000"/>
            <a:ext cx="43180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27000" tIns="101600" rIns="127000" bIns="101600" anchor="ctr"/>
          <a:lstStyle/>
          <a:p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</a:rPr>
              <a:t>Java Spring Boot </a:t>
            </a:r>
            <a:r>
              <a:rPr lang="en-US" altLang="ko-KR" sz="1600" b="1">
                <a:solidFill>
                  <a:srgbClr val="1A1A1A"/>
                </a:solidFill>
                <a:ea typeface="Pretendard"/>
              </a:rPr>
              <a:t>Node.js</a:t>
            </a:r>
            <a:endParaRPr lang="en-US" sz="1600" b="1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l">
              <a:spcBef>
                <a:spcPts val="100"/>
              </a:spcBef>
            </a:pPr>
            <a:r>
              <a:rPr lang="ko-KR" altLang="en-US" sz="1400">
                <a:solidFill>
                  <a:srgbClr val="878787"/>
                </a:solidFill>
                <a:latin typeface="Pretendard"/>
                <a:ea typeface="Pretendard"/>
              </a:rPr>
              <a:t>웹 백엔드</a:t>
            </a:r>
            <a:endParaRPr lang="ko-KR" sz="1400" dirty="0">
              <a:solidFill>
                <a:srgbClr val="878787"/>
              </a:solidFill>
              <a:latin typeface="Pretendard"/>
              <a:ea typeface="Pretendard"/>
            </a:endParaRPr>
          </a:p>
        </p:txBody>
      </p:sp>
      <p:sp>
        <p:nvSpPr>
          <p:cNvPr id="100" name="Bar0"/>
          <p:cNvSpPr/>
          <p:nvPr/>
        </p:nvSpPr>
        <p:spPr>
          <a:xfrm>
            <a:off x="609600" y="1270000"/>
            <a:ext cx="50800" cy="9144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" name="Stack1"/>
          <p:cNvSpPr/>
          <p:nvPr/>
        </p:nvSpPr>
        <p:spPr>
          <a:xfrm>
            <a:off x="609600" y="2336800"/>
            <a:ext cx="43180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27000" tIns="101600" rIns="127000" bIns="101600" anchor="ctr"/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</a:rPr>
              <a:t>Vue Nuxt React TypeScript</a:t>
            </a:r>
            <a:endParaRPr lang="en-US" sz="1600" b="1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l">
              <a:spcBef>
                <a:spcPts val="100"/>
              </a:spcBef>
            </a:pPr>
            <a:r>
              <a:rPr lang="ko-KR" altLang="en-US" sz="1400">
                <a:solidFill>
                  <a:srgbClr val="878787"/>
                </a:solidFill>
                <a:latin typeface="Pretendard"/>
                <a:ea typeface="Pretendard"/>
              </a:rPr>
              <a:t>웹 프론트엔드</a:t>
            </a:r>
            <a:endParaRPr lang="ko-KR" sz="1400" dirty="0">
              <a:solidFill>
                <a:srgbClr val="878787"/>
              </a:solidFill>
              <a:latin typeface="Pretendard"/>
              <a:ea typeface="Pretendard"/>
            </a:endParaRPr>
          </a:p>
        </p:txBody>
      </p:sp>
      <p:sp>
        <p:nvSpPr>
          <p:cNvPr id="101" name="Bar1"/>
          <p:cNvSpPr/>
          <p:nvPr/>
        </p:nvSpPr>
        <p:spPr>
          <a:xfrm>
            <a:off x="609600" y="2336800"/>
            <a:ext cx="50800" cy="9144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" name="Stack2"/>
          <p:cNvSpPr/>
          <p:nvPr/>
        </p:nvSpPr>
        <p:spPr>
          <a:xfrm>
            <a:off x="609600" y="3403600"/>
            <a:ext cx="43180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27000" tIns="101600" rIns="127000" bIns="101600" anchor="ctr"/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</a:rPr>
              <a:t>Electron TypeScript</a:t>
            </a:r>
            <a:endParaRPr lang="en-US" sz="1600" b="1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l">
              <a:spcBef>
                <a:spcPts val="100"/>
              </a:spcBef>
            </a:pPr>
            <a:r>
              <a:rPr lang="ko-KR" altLang="en-US" sz="1400">
                <a:solidFill>
                  <a:srgbClr val="878787"/>
                </a:solidFill>
                <a:latin typeface="Pretendard"/>
                <a:ea typeface="Pretendard"/>
              </a:rPr>
              <a:t>데스크톱 앱</a:t>
            </a:r>
            <a:endParaRPr lang="ko-KR" sz="1400" dirty="0">
              <a:solidFill>
                <a:srgbClr val="878787"/>
              </a:solidFill>
              <a:latin typeface="Pretendard"/>
              <a:ea typeface="Pretendard"/>
            </a:endParaRPr>
          </a:p>
        </p:txBody>
      </p:sp>
      <p:sp>
        <p:nvSpPr>
          <p:cNvPr id="102" name="Bar2"/>
          <p:cNvSpPr/>
          <p:nvPr/>
        </p:nvSpPr>
        <p:spPr>
          <a:xfrm>
            <a:off x="609600" y="3403600"/>
            <a:ext cx="50800" cy="9144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Stack3"/>
          <p:cNvSpPr/>
          <p:nvPr/>
        </p:nvSpPr>
        <p:spPr>
          <a:xfrm>
            <a:off x="609600" y="4470400"/>
            <a:ext cx="43180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27000" tIns="101600" rIns="127000" bIns="101600" anchor="ctr"/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</a:rPr>
              <a:t>Flutter Dart </a:t>
            </a:r>
            <a:endParaRPr lang="en-US" sz="1600" b="1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l">
              <a:spcBef>
                <a:spcPts val="100"/>
              </a:spcBef>
            </a:pPr>
            <a:r>
              <a:rPr lang="ko-KR" altLang="en-US" sz="1400">
                <a:solidFill>
                  <a:srgbClr val="878787"/>
                </a:solidFill>
                <a:latin typeface="Pretendard"/>
                <a:ea typeface="Pretendard"/>
              </a:rPr>
              <a:t>모바일 앱</a:t>
            </a:r>
            <a:endParaRPr lang="ko-KR" sz="1400" dirty="0">
              <a:solidFill>
                <a:srgbClr val="878787"/>
              </a:solidFill>
              <a:latin typeface="Pretendard"/>
              <a:ea typeface="Pretendard"/>
            </a:endParaRPr>
          </a:p>
        </p:txBody>
      </p:sp>
      <p:sp>
        <p:nvSpPr>
          <p:cNvPr id="103" name="Bar3"/>
          <p:cNvSpPr/>
          <p:nvPr/>
        </p:nvSpPr>
        <p:spPr>
          <a:xfrm>
            <a:off x="609600" y="4470400"/>
            <a:ext cx="50800" cy="9144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" name="Desc"/>
          <p:cNvSpPr/>
          <p:nvPr/>
        </p:nvSpPr>
        <p:spPr>
          <a:xfrm>
            <a:off x="5334000" y="1752600"/>
            <a:ext cx="6248400" cy="33020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</p:spPr>
        <p:txBody>
          <a:bodyPr wrap="square" lIns="228600" tIns="228600" rIns="228600" bIns="228600" anchor="ctr"/>
          <a:lstStyle/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FFFFF"/>
                </a:solidFill>
                <a:latin typeface="Pretendard"/>
                <a:ea typeface="Pretendard"/>
              </a:rPr>
              <a:t>oh-my-gx</a:t>
            </a:r>
            <a:r>
              <a:rPr lang="ko-KR" sz="1600" dirty="0">
                <a:solidFill>
                  <a:srgbClr val="FFFFFF"/>
                </a:solidFill>
                <a:latin typeface="Pretendard"/>
                <a:ea typeface="Pretendard"/>
              </a:rPr>
              <a:t>는 특정 스택에 종속되지 </a:t>
            </a:r>
            <a:r>
              <a:rPr lang="ko-KR" sz="1600">
                <a:solidFill>
                  <a:srgbClr val="FFFFFF"/>
                </a:solidFill>
                <a:latin typeface="Pretendard"/>
                <a:ea typeface="Pretendard"/>
              </a:rPr>
              <a:t>않습니다.</a:t>
            </a:r>
            <a:endParaRPr lang="en-US" altLang="ko-KR" sz="1600">
              <a:solidFill>
                <a:srgbClr val="FFFFFF"/>
              </a:solidFill>
              <a:latin typeface="Pretendard"/>
              <a:ea typeface="Pretendard"/>
            </a:endParaRPr>
          </a:p>
          <a:p>
            <a:pPr algn="l">
              <a:lnSpc>
                <a:spcPts val="2400"/>
              </a:lnSpc>
            </a:pPr>
            <a:endParaRPr lang="ko-KR" sz="1600" dirty="0">
              <a:solidFill>
                <a:srgbClr val="FFFFFF"/>
              </a:solidFill>
              <a:latin typeface="Pretendard"/>
              <a:ea typeface="Pretendard"/>
            </a:endParaRPr>
          </a:p>
          <a:p>
            <a:pPr algn="l">
              <a:lnSpc>
                <a:spcPts val="2400"/>
              </a:lnSpc>
            </a:pPr>
            <a:r>
              <a:rPr lang="ko-KR" sz="1600" dirty="0">
                <a:solidFill>
                  <a:srgbClr val="FFFFFF"/>
                </a:solidFill>
                <a:latin typeface="Pretendard"/>
                <a:ea typeface="Pretendard"/>
              </a:rPr>
              <a:t>프로젝트의 빌드 시스템을 감지하고,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FFFFF"/>
                </a:solidFill>
                <a:latin typeface="Pretendard"/>
                <a:ea typeface="Pretendard"/>
              </a:rPr>
              <a:t>CLAUDE.md</a:t>
            </a:r>
            <a:r>
              <a:rPr lang="ko-KR" sz="1600" dirty="0">
                <a:solidFill>
                  <a:srgbClr val="FFFFFF"/>
                </a:solidFill>
                <a:latin typeface="Pretendard"/>
                <a:ea typeface="Pretendard"/>
              </a:rPr>
              <a:t>의 컨벤션을 읽어</a:t>
            </a:r>
          </a:p>
          <a:p>
            <a:pPr algn="l">
              <a:lnSpc>
                <a:spcPts val="2400"/>
              </a:lnSpc>
            </a:pPr>
            <a:r>
              <a:rPr lang="ko-KR" sz="1600" dirty="0">
                <a:solidFill>
                  <a:srgbClr val="FFFFFF"/>
                </a:solidFill>
                <a:latin typeface="Pretendard"/>
                <a:ea typeface="Pretendard"/>
              </a:rPr>
              <a:t>해당 프로젝트 방식에 맞게 동작합니다.</a:t>
            </a:r>
          </a:p>
        </p:txBody>
      </p:sp>
      <p:sp>
        <p:nvSpPr>
          <p:cNvPr id="40" name="Bottom"/>
          <p:cNvSpPr/>
          <p:nvPr/>
        </p:nvSpPr>
        <p:spPr>
          <a:xfrm>
            <a:off x="609600" y="5842000"/>
            <a:ext cx="10972800" cy="508000"/>
          </a:xfrm>
          <a:prstGeom prst="roundRect">
            <a:avLst>
              <a:gd name="adj" fmla="val 16000"/>
            </a:avLst>
          </a:prstGeom>
          <a:solidFill>
            <a:srgbClr val="7B5EA7"/>
          </a:solidFill>
          <a:ln>
            <a:noFill/>
          </a:ln>
        </p:spPr>
        <p:txBody>
          <a:bodyPr wrap="square" lIns="152400" tIns="0" rIns="15240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프로젝트 루트에 CLAUDE.md 하나면 끝 — 빌더 스킬이나 별도 설정 불필요</a:t>
            </a:r>
          </a:p>
        </p:txBody>
      </p:sp>
    </p:spTree>
    <p:extLst>
      <p:ext uri="{BB962C8B-B14F-4D97-AF65-F5344CB8AC3E}">
        <p14:creationId xmlns:p14="http://schemas.microsoft.com/office/powerpoint/2010/main" val="178187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7B5EA7"/>
              </a:gs>
              <a:gs pos="50000">
                <a:srgbClr val="A68BC7"/>
              </a:gs>
              <a:gs pos="100000">
                <a:srgbClr val="6B4E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" name="Title"/>
          <p:cNvSpPr/>
          <p:nvPr/>
        </p:nvSpPr>
        <p:spPr>
          <a:xfrm>
            <a:off x="457200" y="457200"/>
            <a:ext cx="11277600" cy="5461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l"/>
            <a:r>
              <a:rPr lang="en-US" alt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oh-my-gx </a:t>
            </a:r>
            <a:r>
              <a:rPr lang="ko-KR" altLang="en-US" sz="3200" b="1" dirty="0">
                <a:solidFill>
                  <a:srgbClr val="1A1A1A"/>
                </a:solidFill>
                <a:latin typeface="Pretendard"/>
                <a:ea typeface="Pretendard"/>
              </a:rPr>
              <a:t>시작하는 법</a:t>
            </a:r>
          </a:p>
        </p:txBody>
      </p:sp>
      <p:sp>
        <p:nvSpPr>
          <p:cNvPr id="31" name="Bar0"/>
          <p:cNvSpPr/>
          <p:nvPr/>
        </p:nvSpPr>
        <p:spPr>
          <a:xfrm>
            <a:off x="762000" y="1219200"/>
            <a:ext cx="38100" cy="863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tep0"/>
          <p:cNvSpPr/>
          <p:nvPr/>
        </p:nvSpPr>
        <p:spPr>
          <a:xfrm>
            <a:off x="762000" y="12192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1</a:t>
            </a:r>
          </a:p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1A1A1A"/>
                </a:solidFill>
                <a:latin typeface="Consolas"/>
                <a:ea typeface="Pretendard"/>
              </a:rPr>
              <a:t>플러그인 설치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마켓플레이스 또는 plugin add</a:t>
            </a:r>
          </a:p>
        </p:txBody>
      </p:sp>
      <p:sp>
        <p:nvSpPr>
          <p:cNvPr id="41" name="Arr0"/>
          <p:cNvSpPr/>
          <p:nvPr/>
        </p:nvSpPr>
        <p:spPr>
          <a:xfrm>
            <a:off x="5969000" y="20955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Bar1"/>
          <p:cNvSpPr/>
          <p:nvPr/>
        </p:nvSpPr>
        <p:spPr>
          <a:xfrm>
            <a:off x="762000" y="2387600"/>
            <a:ext cx="38100" cy="863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tep1"/>
          <p:cNvSpPr/>
          <p:nvPr/>
        </p:nvSpPr>
        <p:spPr>
          <a:xfrm>
            <a:off x="762000" y="23876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2</a:t>
            </a:r>
          </a:p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1A1A1A"/>
                </a:solidFill>
                <a:latin typeface="Consolas"/>
                <a:ea typeface="Pretendard"/>
              </a:rPr>
              <a:t>/gx-context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도메인 지식 구조화 · 에이전트의 캐시된 두뇌</a:t>
            </a:r>
          </a:p>
        </p:txBody>
      </p:sp>
      <p:sp>
        <p:nvSpPr>
          <p:cNvPr id="42" name="Arr1"/>
          <p:cNvSpPr/>
          <p:nvPr/>
        </p:nvSpPr>
        <p:spPr>
          <a:xfrm>
            <a:off x="5969000" y="32639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ar2"/>
          <p:cNvSpPr/>
          <p:nvPr/>
        </p:nvSpPr>
        <p:spPr>
          <a:xfrm>
            <a:off x="762000" y="3556000"/>
            <a:ext cx="38100" cy="863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tep2"/>
          <p:cNvSpPr/>
          <p:nvPr/>
        </p:nvSpPr>
        <p:spPr>
          <a:xfrm>
            <a:off x="762000" y="35560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3</a:t>
            </a:r>
          </a:p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1A1A1A"/>
                </a:solidFill>
                <a:latin typeface="Consolas"/>
                <a:ea typeface="Pretendard"/>
              </a:rPr>
              <a:t>/gx-lens, /gx-research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현행 코드 정책 파악 · 외부 규정·기술 근거 확보</a:t>
            </a:r>
          </a:p>
        </p:txBody>
      </p:sp>
      <p:sp>
        <p:nvSpPr>
          <p:cNvPr id="43" name="Arr2"/>
          <p:cNvSpPr/>
          <p:nvPr/>
        </p:nvSpPr>
        <p:spPr>
          <a:xfrm>
            <a:off x="5969000" y="44323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Bar3"/>
          <p:cNvSpPr/>
          <p:nvPr/>
        </p:nvSpPr>
        <p:spPr>
          <a:xfrm>
            <a:off x="762000" y="4724400"/>
            <a:ext cx="38100" cy="863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tep3"/>
          <p:cNvSpPr/>
          <p:nvPr/>
        </p:nvSpPr>
        <p:spPr>
          <a:xfrm>
            <a:off x="762000" y="47244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4</a:t>
            </a:r>
          </a:p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1A1A1A"/>
                </a:solidFill>
                <a:latin typeface="Consolas"/>
                <a:ea typeface="Pretendard"/>
              </a:rPr>
              <a:t>/gx-dev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PRD→설계→구현→리뷰→PR · 자동 파이프라인 실행</a:t>
            </a:r>
          </a:p>
        </p:txBody>
      </p:sp>
      <p:sp>
        <p:nvSpPr>
          <p:cNvPr id="40" name="Examples"/>
          <p:cNvSpPr/>
          <p:nvPr/>
        </p:nvSpPr>
        <p:spPr>
          <a:xfrm>
            <a:off x="762000" y="5715000"/>
            <a:ext cx="10668000" cy="508000"/>
          </a:xfrm>
          <a:prstGeom prst="roundRect">
            <a:avLst>
              <a:gd name="adj" fmla="val 16000"/>
            </a:avLst>
          </a:prstGeom>
          <a:solidFill>
            <a:srgbClr val="FFF3ED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/>
            <a:r>
              <a:rPr lang="ko-KR" sz="1400" dirty="0">
                <a:solidFill>
                  <a:srgbClr val="4A4A4A"/>
                </a:solidFill>
                <a:latin typeface="Pretendard"/>
                <a:ea typeface="Pretendard"/>
              </a:rPr>
              <a:t>"설문조사 기능 개발해줘" · "회원 API 핫픽스" · "결재 화면 구현만" · "커밋하고 PR 올려"</a:t>
            </a:r>
          </a:p>
        </p:txBody>
      </p:sp>
    </p:spTree>
    <p:extLst>
      <p:ext uri="{BB962C8B-B14F-4D97-AF65-F5344CB8AC3E}">
        <p14:creationId xmlns:p14="http://schemas.microsoft.com/office/powerpoint/2010/main" val="3566388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" name="Title"/>
          <p:cNvSpPr/>
          <p:nvPr/>
        </p:nvSpPr>
        <p:spPr>
          <a:xfrm>
            <a:off x="457200" y="457200"/>
            <a:ext cx="11277600" cy="546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한편, PM은...</a:t>
            </a:r>
          </a:p>
        </p:txBody>
      </p:sp>
      <p:sp>
        <p:nvSpPr>
          <p:cNvPr id="21" name="Card1"/>
          <p:cNvSpPr/>
          <p:nvPr/>
        </p:nvSpPr>
        <p:spPr>
          <a:xfrm>
            <a:off x="1021080" y="203200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r>
              <a:rPr lang="ko-KR" sz="1600">
                <a:solidFill>
                  <a:srgbClr val="878787"/>
                </a:solidFill>
                <a:latin typeface="Pretendard"/>
                <a:ea typeface="Pretendard"/>
              </a:rPr>
              <a:t>산출물 지옥</a:t>
            </a:r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endParaRPr lang="ko-KR" sz="16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요구사항정의서, 화면목록표,
프로그램정의서, 테이블정의서,
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테스트계획서...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수십 </a:t>
            </a: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개의 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문서를 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소스코드를 보며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수작업</a:t>
            </a:r>
            <a:endParaRPr lang="ko-KR" sz="1400" dirty="0">
              <a:solidFill>
                <a:srgbClr val="1A1A1A"/>
              </a:solidFill>
              <a:latin typeface="Pretendard"/>
              <a:ea typeface="Pretendard"/>
            </a:endParaRPr>
          </a:p>
        </p:txBody>
      </p:sp>
      <p:sp>
        <p:nvSpPr>
          <p:cNvPr id="22" name="Card2"/>
          <p:cNvSpPr/>
          <p:nvPr/>
        </p:nvSpPr>
        <p:spPr>
          <a:xfrm>
            <a:off x="4495800" y="203200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r>
              <a:rPr lang="ko-KR" sz="1600">
                <a:solidFill>
                  <a:srgbClr val="878787"/>
                </a:solidFill>
                <a:latin typeface="Pretendard"/>
                <a:ea typeface="Pretendard"/>
              </a:rPr>
              <a:t>ID 추적 붕괴</a:t>
            </a:r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endParaRPr lang="ko-KR" sz="16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요구사항 → 화면 → 프로그램 → 테스트
ID가 서로 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안 맞음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
감리 때 추적성 부족으로 지적</a:t>
            </a:r>
          </a:p>
        </p:txBody>
      </p:sp>
      <p:sp>
        <p:nvSpPr>
          <p:cNvPr id="23" name="Card3"/>
          <p:cNvSpPr/>
          <p:nvPr/>
        </p:nvSpPr>
        <p:spPr>
          <a:xfrm>
            <a:off x="7970520" y="203200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r>
              <a:rPr lang="ko-KR" sz="1600">
                <a:solidFill>
                  <a:srgbClr val="878787"/>
                </a:solidFill>
                <a:latin typeface="Pretendard"/>
                <a:ea typeface="Pretendard"/>
              </a:rPr>
              <a:t>양식 맞추기</a:t>
            </a:r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/>
            <a:endParaRPr lang="ko-KR" sz="16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AI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에게 어찌저찌 요청하여 </a:t>
            </a:r>
            <a:endParaRPr lang="en-US" altLang="ko-KR" sz="140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내용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을 뽑아낸 후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
</a:t>
            </a:r>
            <a:r>
              <a:rPr lang="en-US" altLang="ko-KR" sz="1400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엑셀 양식 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컬럼에 맞춰
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</a:rPr>
              <a:t>복붙하는데</a:t>
            </a:r>
            <a:r>
              <a:rPr lang="ko-KR" sz="1400">
                <a:solidFill>
                  <a:srgbClr val="1A1A1A"/>
                </a:solidFill>
                <a:latin typeface="Pretendard"/>
                <a:ea typeface="Pretendard"/>
              </a:rPr>
              <a:t> </a:t>
            </a: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반나절</a:t>
            </a:r>
          </a:p>
        </p:txBody>
      </p:sp>
      <p:sp>
        <p:nvSpPr>
          <p:cNvPr id="24" name="Note"/>
          <p:cNvSpPr/>
          <p:nvPr/>
        </p:nvSpPr>
        <p:spPr>
          <a:xfrm>
            <a:off x="457200" y="4826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400" dirty="0">
                <a:solidFill>
                  <a:srgbClr val="AAAAAA"/>
                </a:solidFill>
                <a:latin typeface="Pretendard"/>
                <a:ea typeface="Pretendard"/>
              </a:rPr>
              <a:t>개발 자동화만으로는 부족합니다 — PM의 문서 작업도 자동화가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507874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457200" y="15240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sz="5400" b="1" dirty="0">
                <a:solidFill>
                  <a:srgbClr val="4A90B8"/>
                </a:solidFill>
                <a:latin typeface="Pretendard"/>
                <a:ea typeface="Pretendard"/>
              </a:rPr>
              <a:t>gx-pm</a:t>
            </a:r>
          </a:p>
        </p:txBody>
      </p:sp>
      <p:sp>
        <p:nvSpPr>
          <p:cNvPr id="11" name="S11"/>
          <p:cNvSpPr/>
          <p:nvPr/>
        </p:nvSpPr>
        <p:spPr>
          <a:xfrm>
            <a:off x="457200" y="2794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en-US" sz="2400">
                <a:solidFill>
                  <a:srgbClr val="4A4A4A"/>
                </a:solidFill>
                <a:latin typeface="Pretendard"/>
                <a:ea typeface="Pretendard"/>
              </a:rPr>
              <a:t>GX </a:t>
            </a:r>
            <a:r>
              <a:rPr lang="ko-KR" altLang="en-US" sz="2400">
                <a:solidFill>
                  <a:srgbClr val="4A4A4A"/>
                </a:solidFill>
                <a:latin typeface="Pretendard"/>
                <a:ea typeface="Pretendard"/>
              </a:rPr>
              <a:t>사업본부 문서 작업</a:t>
            </a:r>
            <a:r>
              <a:rPr lang="en-US" sz="2400">
                <a:solidFill>
                  <a:srgbClr val="4A4A4A"/>
                </a:solidFill>
                <a:latin typeface="Pretendard"/>
                <a:ea typeface="Pretendard"/>
              </a:rPr>
              <a:t>을 </a:t>
            </a:r>
            <a:r>
              <a:rPr lang="en-US" sz="2400" dirty="0">
                <a:solidFill>
                  <a:srgbClr val="4A4A4A"/>
                </a:solidFill>
                <a:latin typeface="Pretendard"/>
                <a:ea typeface="Pretendard"/>
              </a:rPr>
              <a:t>위한 Claude Code 플러그인</a:t>
            </a:r>
          </a:p>
        </p:txBody>
      </p:sp>
      <p:sp>
        <p:nvSpPr>
          <p:cNvPr id="12" name="S12"/>
          <p:cNvSpPr/>
          <p:nvPr/>
        </p:nvSpPr>
        <p:spPr>
          <a:xfrm>
            <a:off x="457200" y="3429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2400">
                <a:solidFill>
                  <a:srgbClr val="4A4A4A"/>
                </a:solidFill>
                <a:latin typeface="Pretendard"/>
                <a:ea typeface="Pretendard"/>
              </a:rPr>
              <a:t>산출물 이름</a:t>
            </a:r>
            <a:r>
              <a:rPr lang="ko-KR" altLang="en-US" sz="2400">
                <a:solidFill>
                  <a:srgbClr val="4A4A4A"/>
                </a:solidFill>
                <a:latin typeface="Pretendard"/>
                <a:ea typeface="Pretendard"/>
              </a:rPr>
              <a:t>이 명령어인 직관적인 사용성</a:t>
            </a:r>
            <a:endParaRPr lang="ko-KR" sz="2400" dirty="0">
              <a:solidFill>
                <a:srgbClr val="4A4A4A"/>
              </a:solidFill>
              <a:latin typeface="Pretendard"/>
              <a:ea typeface="Pretendard"/>
            </a:endParaRPr>
          </a:p>
        </p:txBody>
      </p:sp>
      <p:sp>
        <p:nvSpPr>
          <p:cNvPr id="20" name="S20"/>
          <p:cNvSpPr/>
          <p:nvPr/>
        </p:nvSpPr>
        <p:spPr>
          <a:xfrm>
            <a:off x="1524000" y="4318000"/>
            <a:ext cx="9144000" cy="1016000"/>
          </a:xfrm>
          <a:prstGeom prst="roundRect">
            <a:avLst/>
          </a:prstGeom>
          <a:solidFill>
            <a:srgbClr val="4A90B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RFP → 요구사항 → 화면목록 → 프로그램 → 테이블 → 테스트 → 추적 </a:t>
            </a:r>
            <a:r>
              <a:rPr lang="ko-KR" sz="2000" b="1">
                <a:solidFill>
                  <a:srgbClr val="FFFFFF"/>
                </a:solidFill>
                <a:latin typeface="Pretendard"/>
                <a:ea typeface="Pretendard"/>
              </a:rPr>
              <a:t>→ 감리까지</a:t>
            </a:r>
            <a:endParaRPr lang="ko-KR" sz="2000" b="1" dirty="0">
              <a:solidFill>
                <a:srgbClr val="FFFFFF"/>
              </a:solidFill>
              <a:latin typeface="Pretendard"/>
              <a:ea typeface="Pretendard"/>
            </a:endParaRPr>
          </a:p>
        </p:txBody>
      </p:sp>
      <p:sp>
        <p:nvSpPr>
          <p:cNvPr id="30" name="Stat0"/>
          <p:cNvSpPr/>
          <p:nvPr/>
        </p:nvSpPr>
        <p:spPr>
          <a:xfrm>
            <a:off x="762000" y="5651500"/>
            <a:ext cx="340360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600" b="1" dirty="0">
                <a:solidFill>
                  <a:srgbClr val="4A90B8"/>
                </a:solidFill>
                <a:latin typeface="Pretendard"/>
                <a:ea typeface="Pretendard"/>
              </a:rPr>
              <a:t>10개 커맨드</a:t>
            </a:r>
          </a:p>
          <a:p>
            <a:pPr algn="ctr">
              <a:spcBef>
                <a:spcPts val="2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산출물 이름 = 커맨드</a:t>
            </a:r>
          </a:p>
        </p:txBody>
      </p:sp>
      <p:sp>
        <p:nvSpPr>
          <p:cNvPr id="31" name="Stat1"/>
          <p:cNvSpPr/>
          <p:nvPr/>
        </p:nvSpPr>
        <p:spPr>
          <a:xfrm>
            <a:off x="4394200" y="5651500"/>
            <a:ext cx="340360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600" b="1" dirty="0">
                <a:solidFill>
                  <a:srgbClr val="4A90B8"/>
                </a:solidFill>
                <a:latin typeface="Pretendard"/>
                <a:ea typeface="Pretendard"/>
              </a:rPr>
              <a:t>17개 내부 스킬</a:t>
            </a:r>
          </a:p>
          <a:p>
            <a:pPr algn="ctr">
              <a:spcBef>
                <a:spcPts val="2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분석·설계·테스트·의사결정</a:t>
            </a:r>
          </a:p>
        </p:txBody>
      </p:sp>
      <p:sp>
        <p:nvSpPr>
          <p:cNvPr id="32" name="Stat2"/>
          <p:cNvSpPr/>
          <p:nvPr/>
        </p:nvSpPr>
        <p:spPr>
          <a:xfrm>
            <a:off x="8026400" y="5651500"/>
            <a:ext cx="3403600" cy="762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600" b="1" dirty="0">
                <a:solidFill>
                  <a:srgbClr val="4A90B8"/>
                </a:solidFill>
                <a:latin typeface="Pretendard"/>
                <a:ea typeface="Pretendard"/>
              </a:rPr>
              <a:t>ID 추적 체인</a:t>
            </a:r>
          </a:p>
          <a:p>
            <a:pPr algn="ctr">
              <a:spcBef>
                <a:spcPts val="2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끊기면 즉시 감지</a:t>
            </a:r>
          </a:p>
        </p:txBody>
      </p:sp>
    </p:spTree>
    <p:extLst>
      <p:ext uri="{BB962C8B-B14F-4D97-AF65-F5344CB8AC3E}">
        <p14:creationId xmlns:p14="http://schemas.microsoft.com/office/powerpoint/2010/main" val="1022897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3556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2400" b="1" dirty="0">
                <a:solidFill>
                  <a:srgbClr val="1A1A1A"/>
                </a:solidFill>
                <a:latin typeface="Consolas"/>
                <a:ea typeface="Pretendard"/>
              </a:rPr>
              <a:t>/프로젝트설정</a:t>
            </a:r>
            <a:r>
              <a:rPr lang="ko-KR" sz="2400" b="1" dirty="0">
                <a:solidFill>
                  <a:srgbClr val="1A1A1A"/>
                </a:solidFill>
                <a:latin typeface="Pretendard"/>
                <a:ea typeface="Pretendard"/>
              </a:rPr>
              <a:t> — 프로젝트 상황에 맞게 분기</a:t>
            </a:r>
          </a:p>
        </p:txBody>
      </p:sp>
      <p:sp>
        <p:nvSpPr>
          <p:cNvPr id="11" name="Subtitle"/>
          <p:cNvSpPr/>
          <p:nvPr/>
        </p:nvSpPr>
        <p:spPr>
          <a:xfrm>
            <a:off x="457200" y="9144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400" dirty="0">
                <a:solidFill>
                  <a:srgbClr val="878787"/>
                </a:solidFill>
                <a:latin typeface="Pretendard"/>
                <a:ea typeface="Pretendard"/>
              </a:rPr>
              <a:t>처음 한 번 설정하면 이후 모든 커맨드가 자동으로 활용합니다</a:t>
            </a:r>
          </a:p>
        </p:txBody>
      </p:sp>
      <p:sp>
        <p:nvSpPr>
          <p:cNvPr id="20" name="Start"/>
          <p:cNvSpPr/>
          <p:nvPr/>
        </p:nvSpPr>
        <p:spPr>
          <a:xfrm>
            <a:off x="4510019" y="1721323"/>
            <a:ext cx="3048000" cy="406400"/>
          </a:xfrm>
          <a:prstGeom prst="roundRect">
            <a:avLst>
              <a:gd name="adj" fmla="val 10000"/>
            </a:avLst>
          </a:prstGeom>
          <a:solidFill>
            <a:srgbClr val="4A90B8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/>
                <a:ea typeface="Pretendard"/>
              </a:rPr>
              <a:t>/프로젝트설정 실행</a:t>
            </a:r>
          </a:p>
        </p:txBody>
      </p:sp>
      <p:sp>
        <p:nvSpPr>
          <p:cNvPr id="50" name="Arr0"/>
          <p:cNvSpPr/>
          <p:nvPr/>
        </p:nvSpPr>
        <p:spPr>
          <a:xfrm>
            <a:off x="5907019" y="2154710"/>
            <a:ext cx="254000" cy="2032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Question"/>
          <p:cNvSpPr/>
          <p:nvPr/>
        </p:nvSpPr>
        <p:spPr>
          <a:xfrm>
            <a:off x="3748019" y="2407123"/>
            <a:ext cx="4572000" cy="406400"/>
          </a:xfrm>
          <a:prstGeom prst="roundRect">
            <a:avLst>
              <a:gd name="adj" fmla="val 10000"/>
            </a:avLst>
          </a:prstGeom>
          <a:solidFill>
            <a:srgbClr val="DF7B53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어떤 프로젝트인가요?</a:t>
            </a:r>
          </a:p>
        </p:txBody>
      </p:sp>
      <p:sp>
        <p:nvSpPr>
          <p:cNvPr id="51" name="Arr1"/>
          <p:cNvSpPr/>
          <p:nvPr/>
        </p:nvSpPr>
        <p:spPr>
          <a:xfrm>
            <a:off x="1716019" y="2865438"/>
            <a:ext cx="254000" cy="1778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Arr2"/>
          <p:cNvSpPr/>
          <p:nvPr/>
        </p:nvSpPr>
        <p:spPr>
          <a:xfrm>
            <a:off x="4510019" y="2865438"/>
            <a:ext cx="254000" cy="1778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Arr3"/>
          <p:cNvSpPr/>
          <p:nvPr/>
        </p:nvSpPr>
        <p:spPr>
          <a:xfrm>
            <a:off x="7304019" y="2865438"/>
            <a:ext cx="254000" cy="1778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Arr4"/>
          <p:cNvSpPr/>
          <p:nvPr/>
        </p:nvSpPr>
        <p:spPr>
          <a:xfrm>
            <a:off x="10098019" y="2865438"/>
            <a:ext cx="254000" cy="1778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Card0"/>
          <p:cNvSpPr/>
          <p:nvPr/>
        </p:nvSpPr>
        <p:spPr>
          <a:xfrm>
            <a:off x="547619" y="3094038"/>
            <a:ext cx="2590800" cy="241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A. 신규 구축</a:t>
            </a:r>
          </a:p>
          <a:p>
            <a:pPr algn="l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RFP만 있고 코드 없음
설계부터 시작</a:t>
            </a:r>
          </a:p>
          <a:p>
            <a:pPr algn="l">
              <a:spcBef>
                <a:spcPts val="4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→ 요구사항 추출 → 화면 설계 → 전체 흐름</a:t>
            </a:r>
          </a:p>
        </p:txBody>
      </p:sp>
      <p:sp>
        <p:nvSpPr>
          <p:cNvPr id="31" name="Card1"/>
          <p:cNvSpPr/>
          <p:nvPr/>
        </p:nvSpPr>
        <p:spPr>
          <a:xfrm>
            <a:off x="3341619" y="3094038"/>
            <a:ext cx="2590800" cy="241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B. 추가 개발</a:t>
            </a:r>
          </a:p>
          <a:p>
            <a:pPr algn="l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운영 중 시스템에
새 기능 추가</a:t>
            </a:r>
          </a:p>
          <a:p>
            <a:pPr algn="l">
              <a:spcBef>
                <a:spcPts val="4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→ 기존 ID 이어서 채번 + 신규 산출물</a:t>
            </a:r>
          </a:p>
        </p:txBody>
      </p:sp>
      <p:sp>
        <p:nvSpPr>
          <p:cNvPr id="32" name="Card2"/>
          <p:cNvSpPr/>
          <p:nvPr/>
        </p:nvSpPr>
        <p:spPr>
          <a:xfrm>
            <a:off x="6135619" y="3094038"/>
            <a:ext cx="2590800" cy="241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C. 산출물 정비</a:t>
            </a:r>
          </a:p>
          <a:p>
            <a:pPr algn="l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개발 완료 후
산출물 역생성</a:t>
            </a:r>
          </a:p>
          <a:p>
            <a:pPr algn="l">
              <a:spcBef>
                <a:spcPts val="4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→ 소스코드/DDL에서 프로그램·테이블 역추출</a:t>
            </a:r>
          </a:p>
        </p:txBody>
      </p:sp>
      <p:sp>
        <p:nvSpPr>
          <p:cNvPr id="33" name="Card3"/>
          <p:cNvSpPr/>
          <p:nvPr/>
        </p:nvSpPr>
        <p:spPr>
          <a:xfrm>
            <a:off x="8929619" y="3094038"/>
            <a:ext cx="2590800" cy="241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D. 변경 관리</a:t>
            </a:r>
          </a:p>
          <a:p>
            <a:pPr algn="l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기존 기능 수정
변경 대상만 갱신</a:t>
            </a:r>
          </a:p>
          <a:p>
            <a:pPr algn="l">
              <a:spcBef>
                <a:spcPts val="400"/>
              </a:spcBef>
            </a:pP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→ 영향도 분석 + 변경 산출물만 갱신</a:t>
            </a:r>
          </a:p>
        </p:txBody>
      </p:sp>
      <p:sp>
        <p:nvSpPr>
          <p:cNvPr id="90" name="BottomNote"/>
          <p:cNvSpPr/>
          <p:nvPr/>
        </p:nvSpPr>
        <p:spPr>
          <a:xfrm>
            <a:off x="242819" y="5635625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400" dirty="0">
                <a:solidFill>
                  <a:srgbClr val="AAAAAA"/>
                </a:solidFill>
                <a:latin typeface="Pretendard"/>
                <a:ea typeface="Pretendard"/>
              </a:rPr>
              <a:t>설정은 profile.json에 저장 — 새 대화를 열어도 유지됩니다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49AEA8-A2F3-9221-43A2-0EE211E2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99" y="2039144"/>
            <a:ext cx="6268640" cy="4114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745CA6-6048-AC03-5A0D-CEDE12BE0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05" y="2623664"/>
            <a:ext cx="7883389" cy="26892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2137E4-2C67-5A0C-2790-ED0DF9F72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886" y="1866899"/>
            <a:ext cx="5751466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09600" y="4572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400" b="1" dirty="0">
                <a:solidFill>
                  <a:srgbClr val="1A1A1A"/>
                </a:solidFill>
                <a:latin typeface="Consolas"/>
                <a:ea typeface="Pretendard"/>
              </a:rPr>
              <a:t>/요구사항정의서</a:t>
            </a:r>
            <a:r>
              <a:rPr lang="ko-KR" sz="2400" b="1" dirty="0">
                <a:solidFill>
                  <a:srgbClr val="1A1A1A"/>
                </a:solidFill>
                <a:latin typeface="Pretendard"/>
                <a:ea typeface="Pretendard"/>
              </a:rPr>
              <a:t> — 이렇게 동작합니다</a:t>
            </a:r>
          </a:p>
        </p:txBody>
      </p:sp>
      <p:sp>
        <p:nvSpPr>
          <p:cNvPr id="11" name="S11"/>
          <p:cNvSpPr/>
          <p:nvPr/>
        </p:nvSpPr>
        <p:spPr>
          <a:xfrm>
            <a:off x="609600" y="1919434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① RFP 붙여넣기</a:t>
            </a:r>
          </a:p>
        </p:txBody>
      </p:sp>
      <p:sp>
        <p:nvSpPr>
          <p:cNvPr id="12" name="S12"/>
          <p:cNvSpPr/>
          <p:nvPr/>
        </p:nvSpPr>
        <p:spPr>
          <a:xfrm>
            <a:off x="4381500" y="1919434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② 추출 + 분류 → 승인</a:t>
            </a:r>
          </a:p>
        </p:txBody>
      </p:sp>
      <p:sp>
        <p:nvSpPr>
          <p:cNvPr id="13" name="S13"/>
          <p:cNvSpPr/>
          <p:nvPr/>
        </p:nvSpPr>
        <p:spPr>
          <a:xfrm>
            <a:off x="8153400" y="1919434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400" b="1" dirty="0">
                <a:solidFill>
                  <a:srgbClr val="4A90B8"/>
                </a:solidFill>
                <a:latin typeface="Pretendard"/>
                <a:ea typeface="Pretendard"/>
              </a:rPr>
              <a:t>③ xlsx 추출</a:t>
            </a:r>
          </a:p>
        </p:txBody>
      </p:sp>
      <p:sp>
        <p:nvSpPr>
          <p:cNvPr id="20" name="S20"/>
          <p:cNvSpPr/>
          <p:nvPr/>
        </p:nvSpPr>
        <p:spPr>
          <a:xfrm>
            <a:off x="609600" y="2351234"/>
            <a:ext cx="3416300" cy="2976418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108000" tIns="90000" rIns="108000" bIns="72000" anchor="t"/>
          <a:lstStyle/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RFP </a:t>
            </a: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텍스트를 붙여넣거나</a:t>
            </a:r>
          </a:p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PDF 파일 </a:t>
            </a: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경로를 입력</a:t>
            </a: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ko-KR" sz="2000" dirty="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시스템 코드와 접두어를 확인</a:t>
            </a:r>
          </a:p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878787"/>
                </a:solidFill>
                <a:latin typeface="Pretendard"/>
                <a:ea typeface="Pretendard"/>
              </a:rPr>
              <a:t>(예: ACT, EHR, KSC)</a:t>
            </a:r>
          </a:p>
        </p:txBody>
      </p:sp>
      <p:sp>
        <p:nvSpPr>
          <p:cNvPr id="22" name="S22"/>
          <p:cNvSpPr/>
          <p:nvPr/>
        </p:nvSpPr>
        <p:spPr>
          <a:xfrm>
            <a:off x="8153400" y="2351234"/>
            <a:ext cx="3416300" cy="2976416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108000" tIns="90000" rIns="108000" bIns="72000" anchor="t"/>
          <a:lstStyle/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공공 </a:t>
            </a: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양식 컬럼 순서에 맞춘</a:t>
            </a:r>
          </a:p>
          <a:p>
            <a:pPr algn="l">
              <a:lnSpc>
                <a:spcPts val="1800"/>
              </a:lnSpc>
            </a:pP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xlsx 파일 </a:t>
            </a: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자동 생성</a:t>
            </a: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ko-KR" sz="2000" dirty="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산출물 엑셀에</a:t>
            </a:r>
            <a:r>
              <a:rPr lang="en-US" altLang="ko-KR" sz="2000" dirty="0">
                <a:solidFill>
                  <a:srgbClr val="4A4A4A"/>
                </a:solidFill>
                <a:latin typeface="Pretendard"/>
                <a:ea typeface="Pretendard"/>
              </a:rPr>
              <a:t> </a:t>
            </a: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바로 </a:t>
            </a: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복사</a:t>
            </a:r>
            <a:r>
              <a:rPr lang="en-US" altLang="ko-KR" sz="2000">
                <a:solidFill>
                  <a:srgbClr val="4A4A4A"/>
                </a:solidFill>
                <a:latin typeface="Pretendard"/>
                <a:ea typeface="Pretendard"/>
              </a:rPr>
              <a:t>,</a:t>
            </a:r>
            <a:r>
              <a:rPr lang="ko-KR" sz="2000">
                <a:solidFill>
                  <a:srgbClr val="4A4A4A"/>
                </a:solidFill>
                <a:latin typeface="Pretendard"/>
                <a:ea typeface="Pretendard"/>
              </a:rPr>
              <a:t>붙여넣기 </a:t>
            </a:r>
            <a:r>
              <a:rPr lang="ko-KR" sz="2000" dirty="0">
                <a:solidFill>
                  <a:srgbClr val="4A4A4A"/>
                </a:solidFill>
                <a:latin typeface="Pretendard"/>
                <a:ea typeface="Pretendard"/>
              </a:rPr>
              <a:t>가능</a:t>
            </a:r>
          </a:p>
        </p:txBody>
      </p:sp>
      <p:sp>
        <p:nvSpPr>
          <p:cNvPr id="30" name="S30"/>
          <p:cNvSpPr/>
          <p:nvPr/>
        </p:nvSpPr>
        <p:spPr>
          <a:xfrm>
            <a:off x="4025900" y="3367234"/>
            <a:ext cx="35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31" name="S31"/>
          <p:cNvSpPr/>
          <p:nvPr/>
        </p:nvSpPr>
        <p:spPr>
          <a:xfrm>
            <a:off x="7797800" y="3367234"/>
            <a:ext cx="35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Pretendard"/>
              </a:rPr>
              <a:t>→</a:t>
            </a:r>
          </a:p>
        </p:txBody>
      </p:sp>
      <p:sp>
        <p:nvSpPr>
          <p:cNvPr id="40" name="S40"/>
          <p:cNvSpPr/>
          <p:nvPr/>
        </p:nvSpPr>
        <p:spPr>
          <a:xfrm>
            <a:off x="609600" y="63754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000" dirty="0">
                <a:solidFill>
                  <a:srgbClr val="878787"/>
                </a:solidFill>
                <a:latin typeface="Pretendard"/>
                <a:ea typeface="Pretendard"/>
              </a:rPr>
              <a:t>실제 프로젝트 적용 예시 — 적응형 쾌적성 기반 최적 온도 제시 서비스</a:t>
            </a:r>
          </a:p>
        </p:txBody>
      </p:sp>
      <p:sp>
        <p:nvSpPr>
          <p:cNvPr id="2" name="S22">
            <a:extLst>
              <a:ext uri="{FF2B5EF4-FFF2-40B4-BE49-F238E27FC236}">
                <a16:creationId xmlns:a16="http://schemas.microsoft.com/office/drawing/2014/main" id="{20102CCF-59D6-A2DB-4503-86B18ABC12AE}"/>
              </a:ext>
            </a:extLst>
          </p:cNvPr>
          <p:cNvSpPr/>
          <p:nvPr/>
        </p:nvSpPr>
        <p:spPr>
          <a:xfrm>
            <a:off x="4387850" y="2351233"/>
            <a:ext cx="3416300" cy="2976417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txBody>
          <a:bodyPr wrap="square" lIns="108000" tIns="90000" rIns="108000" bIns="72000" anchor="t"/>
          <a:lstStyle/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12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요구사항을 자동 추출</a:t>
            </a: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  <a:p>
            <a:pPr algn="l">
              <a:lnSpc>
                <a:spcPts val="1800"/>
              </a:lnSpc>
            </a:pP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분류</a:t>
            </a:r>
            <a:r>
              <a:rPr lang="en-US" altLang="ko-KR" sz="2000">
                <a:solidFill>
                  <a:srgbClr val="4A4A4A"/>
                </a:solidFill>
                <a:latin typeface="Pretendard"/>
                <a:ea typeface="Pretendard"/>
              </a:rPr>
              <a:t>, ID, </a:t>
            </a: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요구사항명</a:t>
            </a:r>
            <a:r>
              <a:rPr lang="en-US" altLang="ko-KR" sz="2000">
                <a:solidFill>
                  <a:srgbClr val="4A4A4A"/>
                </a:solidFill>
                <a:latin typeface="Pretendard"/>
                <a:ea typeface="Pretendard"/>
              </a:rPr>
              <a:t>, </a:t>
            </a:r>
          </a:p>
          <a:p>
            <a:pPr algn="l">
              <a:lnSpc>
                <a:spcPts val="1800"/>
              </a:lnSpc>
            </a:pP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요구사항 내용</a:t>
            </a:r>
            <a:r>
              <a:rPr lang="en-US" altLang="ko-KR" sz="2000">
                <a:solidFill>
                  <a:srgbClr val="4A4A4A"/>
                </a:solidFill>
                <a:latin typeface="Pretendard"/>
                <a:ea typeface="Pretendard"/>
              </a:rPr>
              <a:t>, </a:t>
            </a: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우선순위</a:t>
            </a:r>
            <a:r>
              <a:rPr lang="en-US" altLang="ko-KR" sz="2000">
                <a:solidFill>
                  <a:srgbClr val="4A4A4A"/>
                </a:solidFill>
                <a:latin typeface="Pretendard"/>
                <a:ea typeface="Pretendard"/>
              </a:rPr>
              <a:t>, </a:t>
            </a:r>
          </a:p>
          <a:p>
            <a:pPr algn="l">
              <a:lnSpc>
                <a:spcPts val="1800"/>
              </a:lnSpc>
            </a:pPr>
            <a:r>
              <a:rPr lang="ko-KR" altLang="en-US" sz="2000">
                <a:solidFill>
                  <a:srgbClr val="4A4A4A"/>
                </a:solidFill>
                <a:latin typeface="Pretendard"/>
                <a:ea typeface="Pretendard"/>
              </a:rPr>
              <a:t>수용여부 등 초안을 작성</a:t>
            </a:r>
            <a:endParaRPr lang="en-US" altLang="ko-KR" sz="2000">
              <a:solidFill>
                <a:srgbClr val="4A4A4A"/>
              </a:solidFill>
              <a:latin typeface="Pretendard"/>
              <a:ea typeface="Pretendar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42A1A7-CD8C-FC18-C63B-E7BA9249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73" y="408134"/>
            <a:ext cx="5473954" cy="59182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114C1DD-3FC4-CA3D-9013-203A0B4C2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464" y="787400"/>
            <a:ext cx="8335071" cy="5293593"/>
          </a:xfrm>
          <a:prstGeom prst="rect">
            <a:avLst/>
          </a:prstGeom>
        </p:spPr>
      </p:pic>
      <p:sp>
        <p:nvSpPr>
          <p:cNvPr id="50" name="Subtitle"/>
          <p:cNvSpPr/>
          <p:nvPr/>
        </p:nvSpPr>
        <p:spPr>
          <a:xfrm>
            <a:off x="609600" y="11684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sz="1200" dirty="0">
                <a:solidFill>
                  <a:srgbClr val="878787"/>
                </a:solidFill>
                <a:latin typeface="Pretendard"/>
                <a:ea typeface="Pretendard"/>
              </a:rPr>
              <a:t>RFP 텍스트를 붙여넣으면 요구사항을 자동 추출·분류하고, 공공 양식에 맞는 xlsx를 생성합니다</a:t>
            </a:r>
          </a:p>
        </p:txBody>
      </p:sp>
    </p:spTree>
    <p:extLst>
      <p:ext uri="{BB962C8B-B14F-4D97-AF65-F5344CB8AC3E}">
        <p14:creationId xmlns:p14="http://schemas.microsoft.com/office/powerpoint/2010/main" val="30030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3556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ko-KR" sz="2400" b="1" dirty="0">
                <a:solidFill>
                  <a:srgbClr val="1A1A1A"/>
                </a:solidFill>
                <a:latin typeface="Pretendard"/>
                <a:ea typeface="Pretendard"/>
              </a:rPr>
              <a:t>단계별 승인 — AI가 멋대로 만들지 않습니다</a:t>
            </a:r>
          </a:p>
        </p:txBody>
      </p:sp>
      <p:sp>
        <p:nvSpPr>
          <p:cNvPr id="11" name="Desc"/>
          <p:cNvSpPr/>
          <p:nvPr/>
        </p:nvSpPr>
        <p:spPr>
          <a:xfrm>
            <a:off x="457200" y="8636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ko-KR" sz="1400" dirty="0">
                <a:solidFill>
                  <a:srgbClr val="5A5A5A"/>
                </a:solidFill>
                <a:latin typeface="Pretendard"/>
                <a:ea typeface="Pretendard"/>
              </a:rPr>
              <a:t>모든 커맨드는 한 번에 완성하지 않습니다. 각 단계마다 사용자 확인을 받고, 수정 요청이 있으면 반영한 뒤 다시 확인합니다.</a:t>
            </a:r>
          </a:p>
        </p:txBody>
      </p:sp>
      <p:sp>
        <p:nvSpPr>
          <p:cNvPr id="30" name="Flow30"/>
          <p:cNvSpPr/>
          <p:nvPr/>
        </p:nvSpPr>
        <p:spPr>
          <a:xfrm>
            <a:off x="1879600" y="1930400"/>
            <a:ext cx="1143000" cy="381000"/>
          </a:xfrm>
          <a:prstGeom prst="roundRect">
            <a:avLst>
              <a:gd name="adj" fmla="val 16000"/>
            </a:avLst>
          </a:prstGeom>
          <a:solidFill>
            <a:srgbClr val="DF7B53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시안 감지</a:t>
            </a:r>
          </a:p>
        </p:txBody>
      </p:sp>
      <p:sp>
        <p:nvSpPr>
          <p:cNvPr id="31" name="Flow31"/>
          <p:cNvSpPr/>
          <p:nvPr/>
        </p:nvSpPr>
        <p:spPr>
          <a:xfrm>
            <a:off x="3200400" y="1930400"/>
            <a:ext cx="965200" cy="381000"/>
          </a:xfrm>
          <a:prstGeom prst="roundRect">
            <a:avLst>
              <a:gd name="adj" fmla="val 16000"/>
            </a:avLst>
          </a:prstGeom>
          <a:solidFill>
            <a:srgbClr val="4A90B8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생성</a:t>
            </a:r>
          </a:p>
        </p:txBody>
      </p:sp>
      <p:sp>
        <p:nvSpPr>
          <p:cNvPr id="32" name="Flow32"/>
          <p:cNvSpPr/>
          <p:nvPr/>
        </p:nvSpPr>
        <p:spPr>
          <a:xfrm>
            <a:off x="4343400" y="1930400"/>
            <a:ext cx="1143000" cy="381000"/>
          </a:xfrm>
          <a:prstGeom prst="roundRect">
            <a:avLst>
              <a:gd name="adj" fmla="val 16000"/>
            </a:avLst>
          </a:prstGeom>
          <a:solidFill>
            <a:srgbClr val="4A90B8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결과 표시</a:t>
            </a:r>
          </a:p>
        </p:txBody>
      </p:sp>
      <p:sp>
        <p:nvSpPr>
          <p:cNvPr id="33" name="Flow33"/>
          <p:cNvSpPr/>
          <p:nvPr/>
        </p:nvSpPr>
        <p:spPr>
          <a:xfrm>
            <a:off x="5664200" y="1930400"/>
            <a:ext cx="1016000" cy="381000"/>
          </a:xfrm>
          <a:prstGeom prst="roundRect">
            <a:avLst>
              <a:gd name="adj" fmla="val 16000"/>
            </a:avLst>
          </a:prstGeom>
          <a:solidFill>
            <a:srgbClr val="DF7B53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승인?</a:t>
            </a:r>
          </a:p>
        </p:txBody>
      </p:sp>
      <p:sp>
        <p:nvSpPr>
          <p:cNvPr id="34" name="Flow34"/>
          <p:cNvSpPr/>
          <p:nvPr/>
        </p:nvSpPr>
        <p:spPr>
          <a:xfrm>
            <a:off x="8242300" y="1930400"/>
            <a:ext cx="1143000" cy="381000"/>
          </a:xfrm>
          <a:prstGeom prst="roundRect">
            <a:avLst>
              <a:gd name="adj" fmla="val 16000"/>
            </a:avLst>
          </a:prstGeom>
          <a:solidFill>
            <a:srgbClr val="2D8C4E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다음 단계</a:t>
            </a:r>
          </a:p>
        </p:txBody>
      </p:sp>
      <p:sp>
        <p:nvSpPr>
          <p:cNvPr id="35" name="Flow35"/>
          <p:cNvSpPr/>
          <p:nvPr/>
        </p:nvSpPr>
        <p:spPr>
          <a:xfrm>
            <a:off x="9563100" y="1930400"/>
            <a:ext cx="1143000" cy="381000"/>
          </a:xfrm>
          <a:prstGeom prst="roundRect">
            <a:avLst>
              <a:gd name="adj" fmla="val 16000"/>
            </a:avLst>
          </a:prstGeom>
          <a:solidFill>
            <a:srgbClr val="2D8C4E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xlsx 추출</a:t>
            </a:r>
          </a:p>
        </p:txBody>
      </p:sp>
      <p:sp>
        <p:nvSpPr>
          <p:cNvPr id="60" name="FlowArr0"/>
          <p:cNvSpPr/>
          <p:nvPr/>
        </p:nvSpPr>
        <p:spPr>
          <a:xfrm>
            <a:off x="3035300" y="2032000"/>
            <a:ext cx="1524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FlowArr1"/>
          <p:cNvSpPr/>
          <p:nvPr/>
        </p:nvSpPr>
        <p:spPr>
          <a:xfrm>
            <a:off x="4178300" y="2032000"/>
            <a:ext cx="1524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FlowArr2"/>
          <p:cNvSpPr/>
          <p:nvPr/>
        </p:nvSpPr>
        <p:spPr>
          <a:xfrm>
            <a:off x="5499100" y="2032000"/>
            <a:ext cx="1524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Yes"/>
          <p:cNvSpPr/>
          <p:nvPr/>
        </p:nvSpPr>
        <p:spPr>
          <a:xfrm>
            <a:off x="6756400" y="18796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000" b="1" dirty="0">
                <a:solidFill>
                  <a:srgbClr val="2D8C4E"/>
                </a:solidFill>
                <a:latin typeface="Pretendard"/>
                <a:ea typeface="Pretendard"/>
              </a:rPr>
              <a:t>Yes</a:t>
            </a:r>
          </a:p>
        </p:txBody>
      </p:sp>
      <p:sp>
        <p:nvSpPr>
          <p:cNvPr id="63" name="FlowArr3"/>
          <p:cNvSpPr/>
          <p:nvPr/>
        </p:nvSpPr>
        <p:spPr>
          <a:xfrm>
            <a:off x="7137400" y="2032000"/>
            <a:ext cx="8382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FlowArr4"/>
          <p:cNvSpPr/>
          <p:nvPr/>
        </p:nvSpPr>
        <p:spPr>
          <a:xfrm>
            <a:off x="9398000" y="2032000"/>
            <a:ext cx="1524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No"/>
          <p:cNvSpPr/>
          <p:nvPr/>
        </p:nvSpPr>
        <p:spPr>
          <a:xfrm>
            <a:off x="5715000" y="2336800"/>
            <a:ext cx="304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000" b="1" dirty="0">
                <a:solidFill>
                  <a:srgbClr val="DF7B53"/>
                </a:solidFill>
                <a:latin typeface="Pretendard"/>
                <a:ea typeface="Pretendard"/>
              </a:rPr>
              <a:t>No</a:t>
            </a:r>
          </a:p>
        </p:txBody>
      </p:sp>
      <p:sp>
        <p:nvSpPr>
          <p:cNvPr id="65" name="BranchArr0"/>
          <p:cNvSpPr/>
          <p:nvPr/>
        </p:nvSpPr>
        <p:spPr>
          <a:xfrm>
            <a:off x="6045200" y="2336800"/>
            <a:ext cx="177800" cy="2032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Retry0"/>
          <p:cNvSpPr/>
          <p:nvPr/>
        </p:nvSpPr>
        <p:spPr>
          <a:xfrm>
            <a:off x="4826000" y="2667000"/>
            <a:ext cx="1270000" cy="381000"/>
          </a:xfrm>
          <a:prstGeom prst="roundRect">
            <a:avLst>
              <a:gd name="adj" fmla="val 16000"/>
            </a:avLst>
          </a:prstGeom>
          <a:solidFill>
            <a:srgbClr val="878787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수정 반영</a:t>
            </a:r>
          </a:p>
        </p:txBody>
      </p:sp>
      <p:sp>
        <p:nvSpPr>
          <p:cNvPr id="66" name="RetryArr0"/>
          <p:cNvSpPr/>
          <p:nvPr/>
        </p:nvSpPr>
        <p:spPr>
          <a:xfrm>
            <a:off x="6108700" y="2717800"/>
            <a:ext cx="152400" cy="1778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Retry1"/>
          <p:cNvSpPr/>
          <p:nvPr/>
        </p:nvSpPr>
        <p:spPr>
          <a:xfrm>
            <a:off x="6273800" y="2667000"/>
            <a:ext cx="1270000" cy="381000"/>
          </a:xfrm>
          <a:prstGeom prst="roundRect">
            <a:avLst>
              <a:gd name="adj" fmla="val 16000"/>
            </a:avLst>
          </a:prstGeom>
          <a:solidFill>
            <a:srgbClr val="878787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Pretendard"/>
                <a:ea typeface="Pretendard"/>
              </a:rPr>
              <a:t>다시 표시 ↩</a:t>
            </a:r>
          </a:p>
        </p:txBody>
      </p:sp>
      <p:sp>
        <p:nvSpPr>
          <p:cNvPr id="80" name="Ex0"/>
          <p:cNvSpPr/>
          <p:nvPr/>
        </p:nvSpPr>
        <p:spPr>
          <a:xfrm>
            <a:off x="609600" y="3556000"/>
            <a:ext cx="5461000" cy="21590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ko-KR" sz="1700" b="1" dirty="0">
                <a:solidFill>
                  <a:srgbClr val="DF7B53"/>
                </a:solidFill>
                <a:latin typeface="Pretendard"/>
                <a:ea typeface="Pretendard"/>
              </a:rPr>
              <a:t>시안 </a:t>
            </a:r>
            <a:r>
              <a:rPr lang="ko-KR" sz="1700" b="1">
                <a:solidFill>
                  <a:srgbClr val="DF7B53"/>
                </a:solidFill>
                <a:latin typeface="Pretendard"/>
                <a:ea typeface="Pretendard"/>
              </a:rPr>
              <a:t>감지 예시</a:t>
            </a:r>
            <a:endParaRPr lang="en-US" altLang="ko-KR" sz="1700" b="1">
              <a:solidFill>
                <a:srgbClr val="DF7B53"/>
              </a:solidFill>
              <a:latin typeface="Pretendard"/>
              <a:ea typeface="Pretendard"/>
            </a:endParaRPr>
          </a:p>
          <a:p>
            <a:pPr algn="l"/>
            <a:endParaRPr lang="en-US" altLang="ko-KR" sz="1200" b="1">
              <a:solidFill>
                <a:srgbClr val="DF7B53"/>
              </a:solidFill>
              <a:latin typeface="Pretendard"/>
              <a:ea typeface="Pretendard"/>
            </a:endParaRPr>
          </a:p>
          <a:p>
            <a:pPr algn="l"/>
            <a:endParaRPr lang="ko-KR" sz="1200" b="1" dirty="0">
              <a:solidFill>
                <a:srgbClr val="DF7B53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500" dirty="0">
                <a:solidFill>
                  <a:srgbClr val="1A1A1A"/>
                </a:solidFill>
                <a:latin typeface="Consolas"/>
                <a:ea typeface="Pretendard"/>
              </a:rPr>
              <a:t>⚠ 시안 선택이 필요합니다
1안: 이중 슬라이더 단일 화면 → 화면 5개
2안: 쾌적성/온도 별도 메뉴 → 화면 8개
→ 어떤 시안으로 진행할까요? (1/2/병행)</a:t>
            </a:r>
          </a:p>
        </p:txBody>
      </p:sp>
      <p:sp>
        <p:nvSpPr>
          <p:cNvPr id="81" name="Ex1"/>
          <p:cNvSpPr/>
          <p:nvPr/>
        </p:nvSpPr>
        <p:spPr>
          <a:xfrm>
            <a:off x="6273800" y="3556000"/>
            <a:ext cx="5461000" cy="21590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ko-KR" sz="1700" b="1" dirty="0">
                <a:solidFill>
                  <a:srgbClr val="4A90B8"/>
                </a:solidFill>
                <a:latin typeface="Pretendard"/>
                <a:ea typeface="Pretendard"/>
              </a:rPr>
              <a:t>기존 산출물 </a:t>
            </a:r>
            <a:r>
              <a:rPr lang="ko-KR" sz="1700" b="1">
                <a:solidFill>
                  <a:srgbClr val="4A90B8"/>
                </a:solidFill>
                <a:latin typeface="Pretendard"/>
                <a:ea typeface="Pretendard"/>
              </a:rPr>
              <a:t>감지 예시</a:t>
            </a:r>
            <a:endParaRPr lang="en-US" altLang="ko-KR" sz="1700" b="1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/>
            <a:endParaRPr lang="en-US" altLang="ko-KR" sz="1200" b="1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/>
            <a:endParaRPr lang="ko-KR" sz="1200" b="1" dirty="0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500" dirty="0">
                <a:solidFill>
                  <a:srgbClr val="1A1A1A"/>
                </a:solidFill>
                <a:latin typeface="Consolas"/>
                <a:ea typeface="Pretendard"/>
              </a:rPr>
              <a:t>기존 산출물이 발견되었습니다.
1. 이어쓰기 — 기존 유지 + 새 항목 추가
2. 새로쓰기 — 백업 후 처음부터 재생성
3. 열기 — 특정 항목만 수정/삭제</a:t>
            </a:r>
          </a:p>
        </p:txBody>
      </p:sp>
    </p:spTree>
    <p:extLst>
      <p:ext uri="{BB962C8B-B14F-4D97-AF65-F5344CB8AC3E}">
        <p14:creationId xmlns:p14="http://schemas.microsoft.com/office/powerpoint/2010/main" val="136018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3556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2800" b="1" dirty="0">
                <a:solidFill>
                  <a:srgbClr val="1A1A1A"/>
                </a:solidFill>
                <a:latin typeface="Pretendard"/>
                <a:ea typeface="Pretendard"/>
              </a:rPr>
              <a:t>10</a:t>
            </a:r>
            <a:r>
              <a:rPr lang="ko-KR" sz="2800" b="1" dirty="0">
                <a:solidFill>
                  <a:srgbClr val="1A1A1A"/>
                </a:solidFill>
                <a:latin typeface="Pretendard"/>
                <a:ea typeface="Pretendard"/>
              </a:rPr>
              <a:t>개 커맨드, 10개 산출물</a:t>
            </a:r>
          </a:p>
        </p:txBody>
      </p:sp>
      <p:sp>
        <p:nvSpPr>
          <p:cNvPr id="11" name="Label11"/>
          <p:cNvSpPr/>
          <p:nvPr/>
        </p:nvSpPr>
        <p:spPr>
          <a:xfrm>
            <a:off x="457200" y="169545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ko-KR" sz="1200" b="1" dirty="0">
                <a:solidFill>
                  <a:srgbClr val="4A90B8"/>
                </a:solidFill>
                <a:latin typeface="Pretendard"/>
                <a:ea typeface="Pretendard"/>
              </a:rPr>
              <a:t>프로젝트 착수</a:t>
            </a:r>
          </a:p>
        </p:txBody>
      </p:sp>
      <p:sp>
        <p:nvSpPr>
          <p:cNvPr id="12" name="Label12"/>
          <p:cNvSpPr/>
          <p:nvPr/>
        </p:nvSpPr>
        <p:spPr>
          <a:xfrm>
            <a:off x="4267200" y="169545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ko-KR" sz="1200" b="1" dirty="0">
                <a:solidFill>
                  <a:srgbClr val="4A90B8"/>
                </a:solidFill>
                <a:latin typeface="Pretendard"/>
                <a:ea typeface="Pretendard"/>
              </a:rPr>
              <a:t>개발·시험</a:t>
            </a:r>
          </a:p>
        </p:txBody>
      </p:sp>
      <p:sp>
        <p:nvSpPr>
          <p:cNvPr id="13" name="Label13"/>
          <p:cNvSpPr/>
          <p:nvPr/>
        </p:nvSpPr>
        <p:spPr>
          <a:xfrm>
            <a:off x="8077200" y="169545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ko-KR" sz="1200" b="1" dirty="0">
                <a:solidFill>
                  <a:srgbClr val="4A90B8"/>
                </a:solidFill>
                <a:latin typeface="Pretendard"/>
                <a:ea typeface="Pretendard"/>
              </a:rPr>
              <a:t>감리·변경</a:t>
            </a:r>
          </a:p>
        </p:txBody>
      </p:sp>
      <p:sp>
        <p:nvSpPr>
          <p:cNvPr id="114" name="Cmd0_0"/>
          <p:cNvSpPr/>
          <p:nvPr/>
        </p:nvSpPr>
        <p:spPr>
          <a:xfrm>
            <a:off x="457200" y="20764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/요구사항정의서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AN-02</a:t>
            </a:r>
          </a:p>
        </p:txBody>
      </p:sp>
      <p:sp>
        <p:nvSpPr>
          <p:cNvPr id="115" name="Cmd0_1"/>
          <p:cNvSpPr/>
          <p:nvPr/>
        </p:nvSpPr>
        <p:spPr>
          <a:xfrm>
            <a:off x="457200" y="26860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/화면목록표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DE-03</a:t>
            </a:r>
          </a:p>
        </p:txBody>
      </p:sp>
      <p:sp>
        <p:nvSpPr>
          <p:cNvPr id="116" name="Cmd0_2"/>
          <p:cNvSpPr/>
          <p:nvPr/>
        </p:nvSpPr>
        <p:spPr>
          <a:xfrm>
            <a:off x="457200" y="32956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/프로그램정의서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DE-05</a:t>
            </a:r>
          </a:p>
        </p:txBody>
      </p:sp>
      <p:sp>
        <p:nvSpPr>
          <p:cNvPr id="117" name="Cmd0_3"/>
          <p:cNvSpPr/>
          <p:nvPr/>
        </p:nvSpPr>
        <p:spPr>
          <a:xfrm>
            <a:off x="457200" y="39052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/인터페이스정의서</a:t>
            </a:r>
          </a:p>
        </p:txBody>
      </p:sp>
      <p:sp>
        <p:nvSpPr>
          <p:cNvPr id="118" name="Cmd0_4"/>
          <p:cNvSpPr/>
          <p:nvPr/>
        </p:nvSpPr>
        <p:spPr>
          <a:xfrm>
            <a:off x="457200" y="45148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/테이블정의서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DE-08</a:t>
            </a:r>
          </a:p>
        </p:txBody>
      </p:sp>
      <p:sp>
        <p:nvSpPr>
          <p:cNvPr id="200" name="Cmd1_0"/>
          <p:cNvSpPr/>
          <p:nvPr/>
        </p:nvSpPr>
        <p:spPr>
          <a:xfrm>
            <a:off x="4267200" y="20764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/단위테스트계획서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DE-13</a:t>
            </a:r>
          </a:p>
        </p:txBody>
      </p:sp>
      <p:sp>
        <p:nvSpPr>
          <p:cNvPr id="201" name="Cmd1_1"/>
          <p:cNvSpPr/>
          <p:nvPr/>
        </p:nvSpPr>
        <p:spPr>
          <a:xfrm>
            <a:off x="4267200" y="26860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/통합테스트시나리오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DE-14</a:t>
            </a:r>
          </a:p>
        </p:txBody>
      </p:sp>
      <p:sp>
        <p:nvSpPr>
          <p:cNvPr id="202" name="Cmd1_2"/>
          <p:cNvSpPr/>
          <p:nvPr/>
        </p:nvSpPr>
        <p:spPr>
          <a:xfrm>
            <a:off x="4267200" y="32956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/테스트결과서</a:t>
            </a:r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 → IM-03, TE-02, TE-06</a:t>
            </a:r>
          </a:p>
        </p:txBody>
      </p:sp>
      <p:sp>
        <p:nvSpPr>
          <p:cNvPr id="300" name="Cmd2_0"/>
          <p:cNvSpPr/>
          <p:nvPr/>
        </p:nvSpPr>
        <p:spPr>
          <a:xfrm>
            <a:off x="8077200" y="20764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/추적매트릭스</a:t>
            </a: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 → AN-05 + 누락 탐지</a:t>
            </a:r>
          </a:p>
        </p:txBody>
      </p:sp>
      <p:sp>
        <p:nvSpPr>
          <p:cNvPr id="301" name="Cmd2_1"/>
          <p:cNvSpPr/>
          <p:nvPr/>
        </p:nvSpPr>
        <p:spPr>
          <a:xfrm>
            <a:off x="8077200" y="2686050"/>
            <a:ext cx="3556000" cy="533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27000" rIns="72000" bIns="27000" anchor="ctr"/>
          <a:lstStyle/>
          <a:p>
            <a:pPr algn="l"/>
            <a:r>
              <a:rPr lang="en-US" sz="1100" b="1" dirty="0">
                <a:solidFill>
                  <a:srgbClr val="1A1A1A"/>
                </a:solidFill>
                <a:latin typeface="Consolas"/>
                <a:ea typeface="Pretendard"/>
              </a:rPr>
              <a:t>/감리대응</a:t>
            </a:r>
            <a:r>
              <a:rPr lang="ko-KR" sz="1100" dirty="0">
                <a:solidFill>
                  <a:srgbClr val="878787"/>
                </a:solidFill>
                <a:latin typeface="Pretendard"/>
                <a:ea typeface="Pretendard"/>
              </a:rPr>
              <a:t> → 대응문서 + 증빙 체크리스트</a:t>
            </a:r>
          </a:p>
        </p:txBody>
      </p:sp>
      <p:sp>
        <p:nvSpPr>
          <p:cNvPr id="90" name="BottomNote"/>
          <p:cNvSpPr/>
          <p:nvPr/>
        </p:nvSpPr>
        <p:spPr>
          <a:xfrm>
            <a:off x="457200" y="5461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7000" rIns="72000" bIns="27000" anchor="ctr"/>
          <a:lstStyle/>
          <a:p>
            <a:pPr algn="ctr"/>
            <a:r>
              <a:rPr lang="ko-KR" altLang="en-US" sz="2000">
                <a:solidFill>
                  <a:srgbClr val="AAAAAA"/>
                </a:solidFill>
                <a:latin typeface="Pretendard"/>
                <a:ea typeface="Pretendard"/>
              </a:rPr>
              <a:t>명령어</a:t>
            </a:r>
            <a:r>
              <a:rPr lang="ko-KR" sz="2000">
                <a:solidFill>
                  <a:srgbClr val="AAAAAA"/>
                </a:solidFill>
                <a:latin typeface="Pretendard"/>
                <a:ea typeface="Pretendard"/>
              </a:rPr>
              <a:t> </a:t>
            </a:r>
            <a:r>
              <a:rPr lang="ko-KR" sz="2000" dirty="0">
                <a:solidFill>
                  <a:srgbClr val="AAAAAA"/>
                </a:solidFill>
                <a:latin typeface="Pretendard"/>
                <a:ea typeface="Pretendard"/>
              </a:rPr>
              <a:t>이름 = 산출물 이름 — "요구사항 뽑아줘"라고 치면 요구사항정의서가 나옵니다</a:t>
            </a:r>
          </a:p>
        </p:txBody>
      </p:sp>
    </p:spTree>
    <p:extLst>
      <p:ext uri="{BB962C8B-B14F-4D97-AF65-F5344CB8AC3E}">
        <p14:creationId xmlns:p14="http://schemas.microsoft.com/office/powerpoint/2010/main" val="1695982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889000"/>
            <a:ext cx="11277600" cy="5461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Pretendard"/>
                <a:ea typeface="Pretendard"/>
              </a:rPr>
              <a:t>그런데</a:t>
            </a:r>
            <a:r>
              <a:rPr lang="en-US" altLang="ko-KR" sz="3200" b="1">
                <a:solidFill>
                  <a:srgbClr val="1A1A1A"/>
                </a:solidFill>
                <a:latin typeface="Pretendard"/>
                <a:ea typeface="Pretendard"/>
              </a:rPr>
              <a:t>,</a:t>
            </a:r>
          </a:p>
          <a:p>
            <a:pPr algn="l"/>
            <a:r>
              <a:rPr lang="ko-KR" altLang="en-US" sz="3200" b="1">
                <a:solidFill>
                  <a:srgbClr val="1A1A1A"/>
                </a:solidFill>
                <a:latin typeface="Pretendard"/>
                <a:ea typeface="Pretendard"/>
              </a:rPr>
              <a:t>보통 개발 완료된 후에 산출물 작성을 하지않으시나요</a:t>
            </a:r>
            <a:r>
              <a:rPr lang="ko-KR" sz="3200" b="1">
                <a:solidFill>
                  <a:srgbClr val="1A1A1A"/>
                </a:solidFill>
                <a:latin typeface="Pretendard"/>
                <a:ea typeface="Pretendard"/>
              </a:rPr>
              <a:t>?</a:t>
            </a:r>
            <a:endParaRPr lang="ko-KR" sz="3200" b="1" dirty="0">
              <a:solidFill>
                <a:srgbClr val="1A1A1A"/>
              </a:solidFill>
              <a:latin typeface="Pretendard"/>
              <a:ea typeface="Pretendard"/>
            </a:endParaRPr>
          </a:p>
        </p:txBody>
      </p:sp>
      <p:sp>
        <p:nvSpPr>
          <p:cNvPr id="20" name="Card1"/>
          <p:cNvSpPr/>
          <p:nvPr/>
        </p:nvSpPr>
        <p:spPr>
          <a:xfrm>
            <a:off x="1016000" y="2413000"/>
            <a:ext cx="3200400" cy="2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54000" rIns="72000" bIns="5400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역순서 작성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코딩 다 끝나고 나서
프로그램정의서 작성 시작
인터페이스정의서는
감리 직전에야 작성</a:t>
            </a:r>
          </a:p>
        </p:txBody>
      </p:sp>
      <p:sp>
        <p:nvSpPr>
          <p:cNvPr id="21" name="Card2"/>
          <p:cNvSpPr/>
          <p:nvPr/>
        </p:nvSpPr>
        <p:spPr>
          <a:xfrm>
            <a:off x="4495800" y="2413000"/>
            <a:ext cx="3200400" cy="2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54000" rIns="72000" bIns="5400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ID 불일치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수작업이라
요구사항 → 화면 → 프로그램
ID가 서로 안 맞음
감리에서 추적성 지적</a:t>
            </a:r>
          </a:p>
        </p:txBody>
      </p:sp>
      <p:sp>
        <p:nvSpPr>
          <p:cNvPr id="22" name="Card3"/>
          <p:cNvSpPr/>
          <p:nvPr/>
        </p:nvSpPr>
        <p:spPr>
          <a:xfrm>
            <a:off x="7975600" y="2413000"/>
            <a:ext cx="3200400" cy="2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54000" rIns="72000" bIns="54000" anchor="ctr"/>
          <a:lstStyle/>
          <a:p>
            <a:pPr algn="ctr"/>
            <a:r>
              <a:rPr lang="ko-KR" sz="1600" dirty="0">
                <a:solidFill>
                  <a:srgbClr val="878787"/>
                </a:solidFill>
                <a:latin typeface="Pretendard"/>
                <a:ea typeface="Pretendard"/>
              </a:rPr>
              <a:t>"소스 보면서 거꾸로"</a:t>
            </a: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소스코드를 보면서
엑셀에 채워 넣는 시간
결국 개발 끝나고
개발만큼 시간 소모</a:t>
            </a:r>
          </a:p>
        </p:txBody>
      </p:sp>
      <p:sp>
        <p:nvSpPr>
          <p:cNvPr id="30" name="Note"/>
          <p:cNvSpPr/>
          <p:nvPr/>
        </p:nvSpPr>
        <p:spPr>
          <a:xfrm>
            <a:off x="457200" y="5461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ctr"/>
            <a:r>
              <a:rPr lang="ko-KR" sz="1400" dirty="0">
                <a:solidFill>
                  <a:srgbClr val="AAAAAA"/>
                </a:solidFill>
                <a:latin typeface="Pretendard"/>
                <a:ea typeface="Pretendard"/>
              </a:rPr>
              <a:t>"소스 보면서 거꾸로" — 그걸 자동으로 하면 어떨까요?</a:t>
            </a:r>
          </a:p>
        </p:txBody>
      </p:sp>
    </p:spTree>
    <p:extLst>
      <p:ext uri="{BB962C8B-B14F-4D97-AF65-F5344CB8AC3E}">
        <p14:creationId xmlns:p14="http://schemas.microsoft.com/office/powerpoint/2010/main" val="1632711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254000"/>
            <a:ext cx="1127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ko-KR" sz="2400" b="1" dirty="0">
                <a:solidFill>
                  <a:srgbClr val="1A1A1A"/>
                </a:solidFill>
                <a:latin typeface="Pretendard"/>
                <a:ea typeface="Pretendard"/>
              </a:rPr>
              <a:t>소스코드에서 산출물을 뽑는다 — 3단계 스캔</a:t>
            </a:r>
          </a:p>
        </p:txBody>
      </p:sp>
      <p:sp>
        <p:nvSpPr>
          <p:cNvPr id="11" name="Sub"/>
          <p:cNvSpPr/>
          <p:nvPr/>
        </p:nvSpPr>
        <p:spPr>
          <a:xfrm>
            <a:off x="457200" y="711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ko-KR" sz="1200" dirty="0">
                <a:solidFill>
                  <a:srgbClr val="878787"/>
                </a:solidFill>
                <a:latin typeface="Pretendard"/>
                <a:ea typeface="Pretendard"/>
              </a:rPr>
              <a:t>프로젝트설정에서 'C. 산출물 정비'를 선택하면, 소스코드에서 산출물을 역생성합니다</a:t>
            </a:r>
          </a:p>
        </p:txBody>
      </p:sp>
      <p:sp>
        <p:nvSpPr>
          <p:cNvPr id="20" name="Stage0"/>
          <p:cNvSpPr/>
          <p:nvPr/>
        </p:nvSpPr>
        <p:spPr>
          <a:xfrm>
            <a:off x="635000" y="10414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en-US" sz="1100" b="1" dirty="0">
                <a:solidFill>
                  <a:srgbClr val="4A90B8"/>
                </a:solidFill>
                <a:latin typeface="Pretendard"/>
                <a:ea typeface="Pretendard"/>
              </a:rPr>
              <a:t>Level 1 — </a:t>
            </a:r>
            <a:r>
              <a:rPr lang="en-US" sz="1100" b="1">
                <a:solidFill>
                  <a:srgbClr val="4A90B8"/>
                </a:solidFill>
                <a:latin typeface="Pretendard"/>
                <a:ea typeface="Pretendard"/>
              </a:rPr>
              <a:t>트리 스캔</a:t>
            </a:r>
          </a:p>
          <a:p>
            <a:pPr algn="l"/>
            <a:endParaRPr lang="en-US" sz="1100" b="1" dirty="0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100" dirty="0">
                <a:solidFill>
                  <a:srgbClr val="1A1A1A"/>
                </a:solidFill>
                <a:latin typeface="Pretendard"/>
                <a:ea typeface="Pretendard"/>
              </a:rPr>
              <a:t>파일 목록만 수집
~2,000 토큰
패키지 구조 파악</a:t>
            </a:r>
          </a:p>
          <a:p>
            <a:pPr algn="l">
              <a:spcBef>
                <a:spcPts val="300"/>
              </a:spcBef>
            </a:pPr>
            <a:r>
              <a:rPr lang="ko-KR" sz="900" dirty="0">
                <a:solidFill>
                  <a:srgbClr val="878787"/>
                </a:solidFill>
                <a:latin typeface="Pretendard"/>
                <a:ea typeface="Pretendard"/>
              </a:rPr>
              <a:t>Java 143개 · JSP 52개 · XML 38개</a:t>
            </a:r>
          </a:p>
        </p:txBody>
      </p:sp>
      <p:sp>
        <p:nvSpPr>
          <p:cNvPr id="50" name="Arr0"/>
          <p:cNvSpPr/>
          <p:nvPr/>
        </p:nvSpPr>
        <p:spPr>
          <a:xfrm>
            <a:off x="4038600" y="1803400"/>
            <a:ext cx="304800" cy="254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tage1"/>
          <p:cNvSpPr/>
          <p:nvPr/>
        </p:nvSpPr>
        <p:spPr>
          <a:xfrm>
            <a:off x="4445000" y="10414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en-US" sz="1100" b="1" dirty="0">
                <a:solidFill>
                  <a:srgbClr val="4A90B8"/>
                </a:solidFill>
                <a:latin typeface="Pretendard"/>
                <a:ea typeface="Pretendard"/>
              </a:rPr>
              <a:t>Level 2 — </a:t>
            </a:r>
            <a:r>
              <a:rPr lang="en-US" sz="1100" b="1">
                <a:solidFill>
                  <a:srgbClr val="4A90B8"/>
                </a:solidFill>
                <a:latin typeface="Pretendard"/>
                <a:ea typeface="Pretendard"/>
              </a:rPr>
              <a:t>헤더 스캔</a:t>
            </a:r>
          </a:p>
          <a:p>
            <a:pPr algn="l"/>
            <a:endParaRPr lang="en-US" sz="1100" b="1" dirty="0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100" dirty="0">
                <a:solidFill>
                  <a:srgbClr val="1A1A1A"/>
                </a:solidFill>
                <a:latin typeface="Pretendard"/>
                <a:ea typeface="Pretendard"/>
              </a:rPr>
              <a:t>각 파일 상위 30~50줄만
~15,000 토큰
Controller URL, Service, DAO 식별</a:t>
            </a:r>
          </a:p>
          <a:p>
            <a:pPr algn="l">
              <a:spcBef>
                <a:spcPts val="300"/>
              </a:spcBef>
            </a:pPr>
            <a:r>
              <a:rPr lang="ko-KR" sz="900" dirty="0">
                <a:solidFill>
                  <a:srgbClr val="878787"/>
                </a:solidFill>
                <a:latin typeface="Pretendard"/>
                <a:ea typeface="Pretendard"/>
              </a:rPr>
              <a:t>풀스캔 대비 0.85%의 토큰</a:t>
            </a:r>
          </a:p>
        </p:txBody>
      </p:sp>
      <p:sp>
        <p:nvSpPr>
          <p:cNvPr id="51" name="Arr1"/>
          <p:cNvSpPr/>
          <p:nvPr/>
        </p:nvSpPr>
        <p:spPr>
          <a:xfrm>
            <a:off x="7848600" y="1803400"/>
            <a:ext cx="304800" cy="254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tage2"/>
          <p:cNvSpPr/>
          <p:nvPr/>
        </p:nvSpPr>
        <p:spPr>
          <a:xfrm>
            <a:off x="8255000" y="10414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en-US" sz="1100" b="1" dirty="0">
                <a:solidFill>
                  <a:srgbClr val="4A90B8"/>
                </a:solidFill>
                <a:latin typeface="Pretendard"/>
                <a:ea typeface="Pretendard"/>
              </a:rPr>
              <a:t>Level 3 — </a:t>
            </a:r>
            <a:r>
              <a:rPr lang="en-US" sz="1100" b="1">
                <a:solidFill>
                  <a:srgbClr val="4A90B8"/>
                </a:solidFill>
                <a:latin typeface="Pretendard"/>
                <a:ea typeface="Pretendard"/>
              </a:rPr>
              <a:t>필요한 파일만</a:t>
            </a:r>
          </a:p>
          <a:p>
            <a:pPr algn="l"/>
            <a:endParaRPr lang="en-US" sz="1100" b="1" dirty="0">
              <a:solidFill>
                <a:srgbClr val="4A90B8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100" dirty="0">
                <a:solidFill>
                  <a:srgbClr val="1A1A1A"/>
                </a:solidFill>
                <a:latin typeface="Pretendard"/>
                <a:ea typeface="Pretendard"/>
              </a:rPr>
              <a:t>판단이 안 되는 파일만 전체 읽기
파일당 ~500 토큰
필요할 때만 실행</a:t>
            </a:r>
          </a:p>
          <a:p>
            <a:pPr algn="l">
              <a:spcBef>
                <a:spcPts val="300"/>
              </a:spcBef>
            </a:pPr>
            <a:r>
              <a:rPr lang="ko-KR" sz="900" dirty="0">
                <a:solidFill>
                  <a:srgbClr val="878787"/>
                </a:solidFill>
                <a:latin typeface="Pretendard"/>
                <a:ea typeface="Pretendard"/>
              </a:rPr>
              <a:t>자동 실행 아님 — 역추출 스킬이 요청 시만</a:t>
            </a:r>
          </a:p>
        </p:txBody>
      </p:sp>
      <p:sp>
        <p:nvSpPr>
          <p:cNvPr id="30" name="Result0"/>
          <p:cNvSpPr/>
          <p:nvPr/>
        </p:nvSpPr>
        <p:spPr>
          <a:xfrm>
            <a:off x="406400" y="2997200"/>
            <a:ext cx="5588000" cy="33782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en-US" sz="1100" b="1" dirty="0">
                <a:solidFill>
                  <a:srgbClr val="DF7B53"/>
                </a:solidFill>
                <a:latin typeface="Consolas"/>
                <a:ea typeface="Pretendard"/>
              </a:rPr>
              <a:t>/</a:t>
            </a:r>
            <a:r>
              <a:rPr lang="en-US" sz="1100" b="1">
                <a:solidFill>
                  <a:srgbClr val="DF7B53"/>
                </a:solidFill>
                <a:latin typeface="Consolas"/>
                <a:ea typeface="Pretendard"/>
              </a:rPr>
              <a:t>프로그램정의서</a:t>
            </a:r>
            <a:r>
              <a:rPr lang="ko-KR" sz="1100" b="1">
                <a:solidFill>
                  <a:srgbClr val="D0D0D0"/>
                </a:solidFill>
                <a:latin typeface="Pretendard"/>
                <a:ea typeface="Pretendard"/>
              </a:rPr>
              <a:t> 역생성</a:t>
            </a:r>
            <a:endParaRPr lang="en-US" altLang="ko-KR" sz="1100" b="1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/>
            <a:endParaRPr lang="en-US" altLang="ko-KR" sz="1100" b="1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/>
            <a:endParaRPr lang="ko-KR" sz="1100" b="1" dirty="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300"/>
              </a:spcBef>
            </a:pPr>
            <a:r>
              <a:rPr lang="ko-KR" sz="1000" dirty="0">
                <a:solidFill>
                  <a:srgbClr val="D0D0D0"/>
                </a:solidFill>
                <a:latin typeface="Consolas"/>
                <a:ea typeface="Pretendard"/>
              </a:rPr>
              <a:t>소스코드에서 다음 업무 영역을 식별했습니다:</a:t>
            </a:r>
          </a:p>
          <a:p>
            <a:pPr algn="l">
              <a:spcBef>
                <a:spcPts val="200"/>
              </a:spcBef>
            </a:pPr>
            <a:r>
              <a:rPr lang="en-US" sz="900" dirty="0">
                <a:solidFill>
                  <a:srgbClr val="A0A0A0"/>
                </a:solidFill>
                <a:latin typeface="Consolas"/>
                <a:ea typeface="Pretendard"/>
              </a:rPr>
              <a:t>┌──────────────────┬──────────────┬──────┐
│ 패키지           │ 업무 영역    │ Ctrl │
├──────────────────┼──────────────┼──────┤
│ system.authority │ 시스템 &gt; 권한 │  1개 │
│ education.course │ 교육 &gt; 과정  │  3개 │
│ education.enroll │ 교육 &gt; 등록  │  2개 │
│ user.manage      │ 사용자관리    │  2개 │</a:t>
            </a:r>
            <a:r>
              <a:rPr lang="en-US" sz="900">
                <a:solidFill>
                  <a:srgbClr val="A0A0A0"/>
                </a:solidFill>
                <a:latin typeface="Consolas"/>
                <a:ea typeface="Pretendard"/>
              </a:rPr>
              <a:t>
└──────────────────┴──────────────┴──────┘</a:t>
            </a:r>
          </a:p>
          <a:p>
            <a:pPr algn="l">
              <a:spcBef>
                <a:spcPts val="200"/>
              </a:spcBef>
            </a:pPr>
            <a:endParaRPr lang="en-US" sz="900" dirty="0">
              <a:solidFill>
                <a:srgbClr val="A0A0A0"/>
              </a:solidFill>
              <a:latin typeface="Consolas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000" dirty="0">
                <a:solidFill>
                  <a:srgbClr val="D0D0D0"/>
                </a:solidFill>
                <a:latin typeface="Pretendard"/>
                <a:ea typeface="Pretendard"/>
              </a:rPr>
              <a:t>업무 영역 분류가 맞나요</a:t>
            </a:r>
            <a:r>
              <a:rPr lang="ko-KR" sz="1000">
                <a:solidFill>
                  <a:srgbClr val="D0D0D0"/>
                </a:solidFill>
                <a:latin typeface="Pretendard"/>
                <a:ea typeface="Pretendard"/>
              </a:rPr>
              <a:t>? </a:t>
            </a:r>
            <a:endParaRPr lang="en-US" altLang="ko-KR" sz="100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endParaRPr lang="en-US" altLang="ko-KR" sz="100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000">
                <a:solidFill>
                  <a:srgbClr val="D0D0D0"/>
                </a:solidFill>
                <a:latin typeface="Pretendard"/>
                <a:ea typeface="Pretendard"/>
              </a:rPr>
              <a:t>✅ 승인 / ✏️ </a:t>
            </a:r>
            <a:r>
              <a:rPr lang="ko-KR" sz="1000" dirty="0">
                <a:solidFill>
                  <a:srgbClr val="D0D0D0"/>
                </a:solidFill>
                <a:latin typeface="Pretendard"/>
                <a:ea typeface="Pretendard"/>
              </a:rPr>
              <a:t>수정</a:t>
            </a:r>
          </a:p>
        </p:txBody>
      </p:sp>
      <p:sp>
        <p:nvSpPr>
          <p:cNvPr id="31" name="Result1"/>
          <p:cNvSpPr/>
          <p:nvPr/>
        </p:nvSpPr>
        <p:spPr>
          <a:xfrm>
            <a:off x="6197600" y="2997200"/>
            <a:ext cx="5588000" cy="33782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l"/>
            <a:r>
              <a:rPr lang="en-US" sz="1100" b="1" dirty="0">
                <a:solidFill>
                  <a:srgbClr val="DF7B53"/>
                </a:solidFill>
                <a:latin typeface="Consolas"/>
                <a:ea typeface="Pretendard"/>
              </a:rPr>
              <a:t>/</a:t>
            </a:r>
            <a:r>
              <a:rPr lang="en-US" sz="1100" b="1">
                <a:solidFill>
                  <a:srgbClr val="DF7B53"/>
                </a:solidFill>
                <a:latin typeface="Consolas"/>
                <a:ea typeface="Pretendard"/>
              </a:rPr>
              <a:t>인터페이스정의서</a:t>
            </a:r>
            <a:r>
              <a:rPr lang="ko-KR" sz="1100" b="1">
                <a:solidFill>
                  <a:srgbClr val="D0D0D0"/>
                </a:solidFill>
                <a:latin typeface="Pretendard"/>
                <a:ea typeface="Pretendard"/>
              </a:rPr>
              <a:t> 역생성</a:t>
            </a:r>
            <a:endParaRPr lang="en-US" altLang="ko-KR" sz="1100" b="1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/>
            <a:endParaRPr lang="en-US" altLang="ko-KR" sz="1100" b="1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/>
            <a:endParaRPr lang="ko-KR" sz="1100" b="1" dirty="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300"/>
              </a:spcBef>
            </a:pPr>
            <a:r>
              <a:rPr lang="ko-KR" sz="1000" dirty="0">
                <a:solidFill>
                  <a:srgbClr val="D0D0D0"/>
                </a:solidFill>
                <a:latin typeface="Consolas"/>
                <a:ea typeface="Pretendard"/>
              </a:rPr>
              <a:t>외부 연동 3건을 탐지했습니다:</a:t>
            </a:r>
          </a:p>
          <a:p>
            <a:pPr algn="l">
              <a:spcBef>
                <a:spcPts val="200"/>
              </a:spcBef>
            </a:pPr>
            <a:r>
              <a:rPr lang="en-US" sz="900" dirty="0">
                <a:solidFill>
                  <a:srgbClr val="A0A0A0"/>
                </a:solidFill>
                <a:latin typeface="Consolas"/>
                <a:ea typeface="Pretendard"/>
              </a:rPr>
              <a:t>┌───────────────┬──────────┬──────────────────┐
│ 연동 대상     │ 방식     │ 호출 위치        │
├───────────────┼──────────┼──────────────────┤
│ 공공데이터포털│ REST API │ DataPortalService│
│ SSO 인증서버  │ REST API │ SsoAuthClient    │
│ 문자발송시스템│ REST API │ SmsService       │
└───────────────┴──────────┴──────────────────┘</a:t>
            </a:r>
          </a:p>
          <a:p>
            <a:pPr algn="l">
              <a:spcBef>
                <a:spcPts val="200"/>
              </a:spcBef>
            </a:pPr>
            <a:endParaRPr lang="en-US" altLang="ko-KR" sz="100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000">
                <a:solidFill>
                  <a:srgbClr val="D0D0D0"/>
                </a:solidFill>
                <a:latin typeface="Pretendard"/>
                <a:ea typeface="Pretendard"/>
              </a:rPr>
              <a:t>이 </a:t>
            </a:r>
            <a:r>
              <a:rPr lang="ko-KR" sz="1000" dirty="0">
                <a:solidFill>
                  <a:srgbClr val="D0D0D0"/>
                </a:solidFill>
                <a:latin typeface="Pretendard"/>
                <a:ea typeface="Pretendard"/>
              </a:rPr>
              <a:t>연동 목록이 맞나요</a:t>
            </a:r>
            <a:r>
              <a:rPr lang="ko-KR" sz="1000">
                <a:solidFill>
                  <a:srgbClr val="D0D0D0"/>
                </a:solidFill>
                <a:latin typeface="Pretendard"/>
                <a:ea typeface="Pretendard"/>
              </a:rPr>
              <a:t>? </a:t>
            </a:r>
            <a:endParaRPr lang="en-US" altLang="ko-KR" sz="100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endParaRPr lang="en-US" altLang="ko-KR" sz="1000">
              <a:solidFill>
                <a:srgbClr val="D0D0D0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r>
              <a:rPr lang="ko-KR" sz="1000">
                <a:solidFill>
                  <a:srgbClr val="D0D0D0"/>
                </a:solidFill>
                <a:latin typeface="Pretendard"/>
                <a:ea typeface="Pretendard"/>
              </a:rPr>
              <a:t>✅ </a:t>
            </a:r>
            <a:r>
              <a:rPr lang="ko-KR" sz="1000" dirty="0">
                <a:solidFill>
                  <a:srgbClr val="D0D0D0"/>
                </a:solidFill>
                <a:latin typeface="Pretendard"/>
                <a:ea typeface="Pretendard"/>
              </a:rPr>
              <a:t>승인 / ✏️ 수정</a:t>
            </a:r>
          </a:p>
        </p:txBody>
      </p:sp>
    </p:spTree>
    <p:extLst>
      <p:ext uri="{BB962C8B-B14F-4D97-AF65-F5344CB8AC3E}">
        <p14:creationId xmlns:p14="http://schemas.microsoft.com/office/powerpoint/2010/main" val="4136278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4A90B8"/>
              </a:gs>
              <a:gs pos="50000">
                <a:srgbClr val="7BB5D5"/>
              </a:gs>
              <a:gs pos="100000">
                <a:srgbClr val="3A7E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" name="Title"/>
          <p:cNvSpPr/>
          <p:nvPr/>
        </p:nvSpPr>
        <p:spPr>
          <a:xfrm>
            <a:off x="457200" y="457200"/>
            <a:ext cx="11277600" cy="5461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alt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gx-pm </a:t>
            </a:r>
            <a:r>
              <a:rPr lang="ko-KR" altLang="en-US" sz="3200" b="1" dirty="0">
                <a:solidFill>
                  <a:srgbClr val="1A1A1A"/>
                </a:solidFill>
                <a:latin typeface="Pretendard"/>
                <a:ea typeface="Pretendard"/>
              </a:rPr>
              <a:t>시작하는 법</a:t>
            </a:r>
          </a:p>
        </p:txBody>
      </p:sp>
      <p:sp>
        <p:nvSpPr>
          <p:cNvPr id="31" name="Bar0"/>
          <p:cNvSpPr/>
          <p:nvPr/>
        </p:nvSpPr>
        <p:spPr>
          <a:xfrm>
            <a:off x="762000" y="1219200"/>
            <a:ext cx="38100" cy="8636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tep0"/>
          <p:cNvSpPr/>
          <p:nvPr/>
        </p:nvSpPr>
        <p:spPr>
          <a:xfrm>
            <a:off x="762000" y="12192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1</a:t>
            </a:r>
          </a:p>
          <a:p>
            <a:pPr algn="l">
              <a:spcBef>
                <a:spcPts val="100"/>
              </a:spcBef>
            </a:pPr>
            <a:r>
              <a:rPr lang="ko-KR" sz="1600" b="1" dirty="0">
                <a:solidFill>
                  <a:srgbClr val="1A1A1A"/>
                </a:solidFill>
                <a:latin typeface="Consolas"/>
                <a:ea typeface="Pretendard"/>
              </a:rPr>
              <a:t>플러그인 설치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마켓플레이스 또는 plugin add</a:t>
            </a:r>
          </a:p>
        </p:txBody>
      </p:sp>
      <p:sp>
        <p:nvSpPr>
          <p:cNvPr id="41" name="Arr0"/>
          <p:cNvSpPr/>
          <p:nvPr/>
        </p:nvSpPr>
        <p:spPr>
          <a:xfrm>
            <a:off x="5969000" y="20955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Bar1"/>
          <p:cNvSpPr/>
          <p:nvPr/>
        </p:nvSpPr>
        <p:spPr>
          <a:xfrm>
            <a:off x="762000" y="2387600"/>
            <a:ext cx="38100" cy="8636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tep1"/>
          <p:cNvSpPr/>
          <p:nvPr/>
        </p:nvSpPr>
        <p:spPr>
          <a:xfrm>
            <a:off x="762000" y="23876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2</a:t>
            </a:r>
          </a:p>
          <a:p>
            <a:pPr algn="l">
              <a:spcBef>
                <a:spcPts val="100"/>
              </a:spcBef>
            </a:pPr>
            <a:r>
              <a:rPr lang="ko-KR" sz="1600" b="1" dirty="0">
                <a:solidFill>
                  <a:srgbClr val="1A1A1A"/>
                </a:solidFill>
                <a:latin typeface="Consolas"/>
                <a:ea typeface="Pretendard"/>
              </a:rPr>
              <a:t>/프로젝트설정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유형 선택 (신규/추가/정비/변경) · 소스경로·DDL·기존산출물 입력</a:t>
            </a:r>
          </a:p>
        </p:txBody>
      </p:sp>
      <p:sp>
        <p:nvSpPr>
          <p:cNvPr id="42" name="Arr1"/>
          <p:cNvSpPr/>
          <p:nvPr/>
        </p:nvSpPr>
        <p:spPr>
          <a:xfrm>
            <a:off x="5969000" y="32639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ar2"/>
          <p:cNvSpPr/>
          <p:nvPr/>
        </p:nvSpPr>
        <p:spPr>
          <a:xfrm>
            <a:off x="762000" y="3556000"/>
            <a:ext cx="38100" cy="8636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tep2"/>
          <p:cNvSpPr/>
          <p:nvPr/>
        </p:nvSpPr>
        <p:spPr>
          <a:xfrm>
            <a:off x="762000" y="35560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3</a:t>
            </a:r>
          </a:p>
          <a:p>
            <a:pPr algn="l">
              <a:spcBef>
                <a:spcPts val="100"/>
              </a:spcBef>
            </a:pPr>
            <a:r>
              <a:rPr lang="ko-KR" sz="1600" b="1" dirty="0">
                <a:solidFill>
                  <a:srgbClr val="1A1A1A"/>
                </a:solidFill>
                <a:latin typeface="Consolas"/>
                <a:ea typeface="Pretendard"/>
              </a:rPr>
              <a:t>산출물 커맨드 실행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/요구사항정의서, /화면목록표... · 단계별 승인 + xlsx 추출</a:t>
            </a:r>
          </a:p>
        </p:txBody>
      </p:sp>
      <p:sp>
        <p:nvSpPr>
          <p:cNvPr id="43" name="Arr2"/>
          <p:cNvSpPr/>
          <p:nvPr/>
        </p:nvSpPr>
        <p:spPr>
          <a:xfrm>
            <a:off x="5969000" y="4432300"/>
            <a:ext cx="254000" cy="22860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Bar3"/>
          <p:cNvSpPr/>
          <p:nvPr/>
        </p:nvSpPr>
        <p:spPr>
          <a:xfrm>
            <a:off x="762000" y="4724400"/>
            <a:ext cx="38100" cy="8636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tep3"/>
          <p:cNvSpPr/>
          <p:nvPr/>
        </p:nvSpPr>
        <p:spPr>
          <a:xfrm>
            <a:off x="762000" y="4724400"/>
            <a:ext cx="10668000" cy="8636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100" dirty="0">
                <a:solidFill>
                  <a:srgbClr val="878787"/>
                </a:solidFill>
                <a:latin typeface="Pretendard"/>
                <a:ea typeface="Pretendard"/>
              </a:rPr>
              <a:t>Step 4</a:t>
            </a:r>
          </a:p>
          <a:p>
            <a:pPr algn="l">
              <a:spcBef>
                <a:spcPts val="100"/>
              </a:spcBef>
            </a:pPr>
            <a:r>
              <a:rPr lang="ko-KR" sz="1600" b="1" dirty="0">
                <a:solidFill>
                  <a:srgbClr val="1A1A1A"/>
                </a:solidFill>
                <a:latin typeface="Consolas"/>
                <a:ea typeface="Pretendard"/>
              </a:rPr>
              <a:t>/추적매트릭스</a:t>
            </a:r>
          </a:p>
          <a:p>
            <a:pPr algn="l">
              <a:spcBef>
                <a:spcPts val="100"/>
              </a:spcBef>
            </a:pPr>
            <a:r>
              <a:rPr lang="ko-KR" sz="1200" dirty="0">
                <a:solidFill>
                  <a:srgbClr val="5A5A5A"/>
                </a:solidFill>
                <a:latin typeface="Pretendard"/>
                <a:ea typeface="Pretendard"/>
              </a:rPr>
              <a:t>ID 체인 전체 점검 · 누락 탐지 + 과업 완료 확인</a:t>
            </a:r>
          </a:p>
        </p:txBody>
      </p:sp>
      <p:sp>
        <p:nvSpPr>
          <p:cNvPr id="40" name="Examples"/>
          <p:cNvSpPr/>
          <p:nvPr/>
        </p:nvSpPr>
        <p:spPr>
          <a:xfrm>
            <a:off x="762000" y="5715000"/>
            <a:ext cx="10668000" cy="508000"/>
          </a:xfrm>
          <a:prstGeom prst="roundRect">
            <a:avLst>
              <a:gd name="adj" fmla="val 16000"/>
            </a:avLst>
          </a:prstGeom>
          <a:solidFill>
            <a:srgbClr val="EBF2F8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ko-KR" sz="1400" dirty="0">
                <a:solidFill>
                  <a:srgbClr val="4A4A4A"/>
                </a:solidFill>
                <a:latin typeface="Pretendard"/>
                <a:ea typeface="Pretendard"/>
              </a:rPr>
              <a:t>"요구사항 뽑아줘" · "화면목록 만들어줘" · "DDL로 테이블정의서" · "감리 지적 대응해줘"</a:t>
            </a:r>
          </a:p>
        </p:txBody>
      </p:sp>
    </p:spTree>
    <p:extLst>
      <p:ext uri="{BB962C8B-B14F-4D97-AF65-F5344CB8AC3E}">
        <p14:creationId xmlns:p14="http://schemas.microsoft.com/office/powerpoint/2010/main" val="2826507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355600"/>
            <a:ext cx="11277600" cy="546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3200" b="1" dirty="0">
                <a:solidFill>
                  <a:srgbClr val="1A1A1A"/>
                </a:solidFill>
                <a:latin typeface="Pretendard"/>
                <a:ea typeface="Pretendard"/>
              </a:rPr>
              <a:t>두 플러그인, 하나의 목표</a:t>
            </a:r>
          </a:p>
        </p:txBody>
      </p:sp>
      <p:sp>
        <p:nvSpPr>
          <p:cNvPr id="20" name="LeftCol"/>
          <p:cNvSpPr/>
          <p:nvPr/>
        </p:nvSpPr>
        <p:spPr>
          <a:xfrm>
            <a:off x="762001" y="1432791"/>
            <a:ext cx="5207000" cy="3302000"/>
          </a:xfrm>
          <a:prstGeom prst="roundRect">
            <a:avLst>
              <a:gd name="adj" fmla="val 8000"/>
            </a:avLst>
          </a:prstGeom>
          <a:solidFill>
            <a:srgbClr val="E8E0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2400" b="1" dirty="0">
                <a:solidFill>
                  <a:srgbClr val="7B5EA7"/>
                </a:solidFill>
                <a:latin typeface="Pretendard"/>
                <a:ea typeface="Pretendard"/>
              </a:rPr>
              <a:t>oh-my-gx</a:t>
            </a:r>
          </a:p>
          <a:p>
            <a:pPr algn="l">
              <a:spcBef>
                <a:spcPts val="200"/>
              </a:spcBef>
            </a:pPr>
            <a:r>
              <a:rPr lang="ko-KR" sz="1600">
                <a:solidFill>
                  <a:srgbClr val="878787"/>
                </a:solidFill>
                <a:latin typeface="Pretendard"/>
                <a:ea typeface="Pretendard"/>
              </a:rPr>
              <a:t>개발자의 자동화</a:t>
            </a:r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endParaRPr lang="ko-KR" sz="16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l">
              <a:spcBef>
                <a:spcPts val="600"/>
              </a:spcBef>
            </a:pPr>
            <a:r>
              <a:rPr lang="ko-KR" sz="1600" dirty="0">
                <a:solidFill>
                  <a:srgbClr val="1A1A1A"/>
                </a:solidFill>
                <a:latin typeface="Pretendard"/>
                <a:ea typeface="Pretendard"/>
              </a:rPr>
              <a:t>· 7개 스킬
· 9개 에이전트 팀
· PRD → 설계 → 코드 → 리뷰 → PR
· 어떤 언어·프레임워크든</a:t>
            </a:r>
          </a:p>
        </p:txBody>
      </p:sp>
      <p:sp>
        <p:nvSpPr>
          <p:cNvPr id="21" name="RightCol"/>
          <p:cNvSpPr/>
          <p:nvPr/>
        </p:nvSpPr>
        <p:spPr>
          <a:xfrm>
            <a:off x="6223001" y="1432791"/>
            <a:ext cx="5207000" cy="3302000"/>
          </a:xfrm>
          <a:prstGeom prst="roundRect">
            <a:avLst>
              <a:gd name="adj" fmla="val 8000"/>
            </a:avLst>
          </a:prstGeom>
          <a:solidFill>
            <a:srgbClr val="EB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2400" b="1" dirty="0">
                <a:solidFill>
                  <a:srgbClr val="4A90B8"/>
                </a:solidFill>
                <a:latin typeface="Pretendard"/>
                <a:ea typeface="Pretendard"/>
              </a:rPr>
              <a:t>gx-pm</a:t>
            </a:r>
          </a:p>
          <a:p>
            <a:pPr algn="l">
              <a:spcBef>
                <a:spcPts val="200"/>
              </a:spcBef>
            </a:pPr>
            <a:r>
              <a:rPr lang="en-US" sz="1600" dirty="0">
                <a:solidFill>
                  <a:srgbClr val="878787"/>
                </a:solidFill>
                <a:latin typeface="Pretendard"/>
                <a:ea typeface="Pretendard"/>
              </a:rPr>
              <a:t>PM</a:t>
            </a:r>
            <a:r>
              <a:rPr lang="ko-KR" sz="1600">
                <a:solidFill>
                  <a:srgbClr val="878787"/>
                </a:solidFill>
                <a:latin typeface="Pretendard"/>
                <a:ea typeface="Pretendard"/>
              </a:rPr>
              <a:t>의 자동화</a:t>
            </a:r>
            <a:endParaRPr lang="en-US" altLang="ko-KR" sz="160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l">
              <a:spcBef>
                <a:spcPts val="200"/>
              </a:spcBef>
            </a:pPr>
            <a:endParaRPr lang="ko-KR" sz="1600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l">
              <a:spcBef>
                <a:spcPts val="600"/>
              </a:spcBef>
            </a:pPr>
            <a:r>
              <a:rPr lang="ko-KR" sz="1600" dirty="0">
                <a:solidFill>
                  <a:srgbClr val="1A1A1A"/>
                </a:solidFill>
                <a:latin typeface="Pretendard"/>
                <a:ea typeface="Pretendard"/>
              </a:rPr>
              <a:t>· 10개 커맨드 = 10개 산출물
· 17개 내부 스킬
· RFP → 산출물 → 추적 → 감리
· ID 체인 + xlsx 추출</a:t>
            </a:r>
          </a:p>
        </p:txBody>
      </p:sp>
      <p:sp>
        <p:nvSpPr>
          <p:cNvPr id="30" name="SharedBand"/>
          <p:cNvSpPr/>
          <p:nvPr/>
        </p:nvSpPr>
        <p:spPr>
          <a:xfrm>
            <a:off x="4121727" y="5265882"/>
            <a:ext cx="3948545" cy="898236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endParaRPr lang="en-US" altLang="ko-KR" sz="1600" b="1">
              <a:solidFill>
                <a:srgbClr val="FFFFFF"/>
              </a:solidFill>
              <a:latin typeface="Pretendard"/>
              <a:ea typeface="Pretendard"/>
            </a:endParaRPr>
          </a:p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  <a:ea typeface="Pretendard"/>
              </a:rPr>
              <a:t>반복은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  <a:ea typeface="Pretendard"/>
              </a:rPr>
              <a:t>AI</a:t>
            </a:r>
            <a:r>
              <a:rPr lang="ko-KR" altLang="en-US" sz="1600" b="1">
                <a:solidFill>
                  <a:srgbClr val="FFFFFF"/>
                </a:solidFill>
                <a:latin typeface="Pretendard"/>
                <a:ea typeface="Pretendard"/>
              </a:rPr>
              <a:t>에게</a:t>
            </a:r>
            <a:r>
              <a:rPr lang="en-US" altLang="ko-KR" sz="1600" b="1">
                <a:solidFill>
                  <a:srgbClr val="FFFFFF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  <a:ea typeface="Pretendard"/>
              </a:rPr>
              <a:t>판단은 사람에게</a:t>
            </a:r>
            <a:r>
              <a:rPr lang="en-US" altLang="ko-KR" sz="1600" b="1">
                <a:solidFill>
                  <a:srgbClr val="FFFFFF"/>
                </a:solidFill>
                <a:latin typeface="Pretendard"/>
                <a:ea typeface="Pretendard"/>
              </a:rPr>
              <a:t>.</a:t>
            </a:r>
            <a:endParaRPr lang="ko-KR" sz="1600" b="1" dirty="0">
              <a:solidFill>
                <a:srgbClr val="FFFFFF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900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itle"/>
          <p:cNvSpPr/>
          <p:nvPr/>
        </p:nvSpPr>
        <p:spPr>
          <a:xfrm>
            <a:off x="457200" y="3556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ko-KR" altLang="en-US" sz="2800" b="1">
                <a:solidFill>
                  <a:srgbClr val="1A1A1A"/>
                </a:solidFill>
                <a:latin typeface="Pretendard"/>
                <a:ea typeface="Pretendard"/>
              </a:rPr>
              <a:t>완전 </a:t>
            </a:r>
            <a:r>
              <a:rPr lang="ko-KR" sz="2800" b="1">
                <a:solidFill>
                  <a:srgbClr val="1A1A1A"/>
                </a:solidFill>
                <a:latin typeface="Pretendard"/>
                <a:ea typeface="Pretendard"/>
              </a:rPr>
              <a:t>자동화</a:t>
            </a:r>
            <a:r>
              <a:rPr lang="ko-KR" altLang="en-US" sz="2800" b="1">
                <a:solidFill>
                  <a:srgbClr val="1A1A1A"/>
                </a:solidFill>
                <a:latin typeface="Pretendard"/>
                <a:ea typeface="Pretendard"/>
              </a:rPr>
              <a:t>가 아닌 </a:t>
            </a:r>
            <a:r>
              <a:rPr lang="ko-KR" sz="2800" b="1">
                <a:solidFill>
                  <a:srgbClr val="1A1A1A"/>
                </a:solidFill>
                <a:latin typeface="Pretendard"/>
                <a:ea typeface="Pretendard"/>
              </a:rPr>
              <a:t>가속</a:t>
            </a:r>
            <a:endParaRPr lang="ko-KR" sz="2800" b="1" dirty="0">
              <a:solidFill>
                <a:srgbClr val="1A1A1A"/>
              </a:solidFill>
              <a:latin typeface="Pretendard"/>
              <a:ea typeface="Pretendard"/>
            </a:endParaRPr>
          </a:p>
        </p:txBody>
      </p:sp>
      <p:sp>
        <p:nvSpPr>
          <p:cNvPr id="20" name="LblWithout"/>
          <p:cNvSpPr/>
          <p:nvPr/>
        </p:nvSpPr>
        <p:spPr>
          <a:xfrm>
            <a:off x="457200" y="1270000"/>
            <a:ext cx="10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r"/>
            <a:r>
              <a:rPr lang="en-US" sz="1200" b="1" dirty="0">
                <a:solidFill>
                  <a:srgbClr val="878787"/>
                </a:solidFill>
                <a:latin typeface="Pretendard"/>
                <a:ea typeface="Pretendard"/>
              </a:rPr>
              <a:t>Without</a:t>
            </a:r>
          </a:p>
        </p:txBody>
      </p:sp>
      <p:sp>
        <p:nvSpPr>
          <p:cNvPr id="21" name="BarWithout"/>
          <p:cNvSpPr/>
          <p:nvPr/>
        </p:nvSpPr>
        <p:spPr>
          <a:xfrm>
            <a:off x="1524000" y="1270000"/>
            <a:ext cx="8890000" cy="457200"/>
          </a:xfrm>
          <a:prstGeom prst="roundRect">
            <a:avLst>
              <a:gd name="adj" fmla="val 5000"/>
            </a:avLst>
          </a:prstGeom>
          <a:solidFill>
            <a:srgbClr val="AAAAAA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000" dirty="0">
                <a:solidFill>
                  <a:srgbClr val="FFFFFF"/>
                </a:solidFill>
                <a:latin typeface="Pretendard"/>
                <a:ea typeface="Pretendard"/>
              </a:rPr>
              <a:t>프롬프트 작성 → 설명 → 수정 요청 → 재설명 → 또 수정 → ... → 완성</a:t>
            </a:r>
          </a:p>
        </p:txBody>
      </p:sp>
      <p:sp>
        <p:nvSpPr>
          <p:cNvPr id="22" name="Scale0a"/>
          <p:cNvSpPr/>
          <p:nvPr/>
        </p:nvSpPr>
        <p:spPr>
          <a:xfrm>
            <a:off x="1524000" y="1778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000" dirty="0">
                <a:solidFill>
                  <a:srgbClr val="AAAAAA"/>
                </a:solidFill>
                <a:latin typeface="Pretendard"/>
                <a:ea typeface="Pretendard"/>
              </a:rPr>
              <a:t>0</a:t>
            </a:r>
          </a:p>
        </p:txBody>
      </p:sp>
      <p:sp>
        <p:nvSpPr>
          <p:cNvPr id="23" name="Scale100a"/>
          <p:cNvSpPr/>
          <p:nvPr/>
        </p:nvSpPr>
        <p:spPr>
          <a:xfrm>
            <a:off x="10033000" y="1778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r"/>
            <a:r>
              <a:rPr lang="en-US" sz="1000" dirty="0">
                <a:solidFill>
                  <a:srgbClr val="AAAAAA"/>
                </a:solidFill>
                <a:latin typeface="Pretendard"/>
                <a:ea typeface="Pretendard"/>
              </a:rPr>
              <a:t>100</a:t>
            </a:r>
          </a:p>
        </p:txBody>
      </p:sp>
      <p:sp>
        <p:nvSpPr>
          <p:cNvPr id="24" name="TimeWithout"/>
          <p:cNvSpPr/>
          <p:nvPr/>
        </p:nvSpPr>
        <p:spPr>
          <a:xfrm>
            <a:off x="10591800" y="12700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000" dirty="0">
                <a:solidFill>
                  <a:srgbClr val="AAAAAA"/>
                </a:solidFill>
                <a:latin typeface="Consolas"/>
                <a:ea typeface="Pretendard"/>
              </a:rPr>
              <a:t>━━━━━━━━━━</a:t>
            </a:r>
          </a:p>
        </p:txBody>
      </p:sp>
      <p:sp>
        <p:nvSpPr>
          <p:cNvPr id="30" name="LblWith"/>
          <p:cNvSpPr/>
          <p:nvPr/>
        </p:nvSpPr>
        <p:spPr>
          <a:xfrm>
            <a:off x="457200" y="2349500"/>
            <a:ext cx="10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r"/>
            <a:r>
              <a:rPr lang="en-US" sz="1200" b="1" dirty="0">
                <a:solidFill>
                  <a:srgbClr val="DF7B53"/>
                </a:solidFill>
                <a:latin typeface="Pretendard"/>
                <a:ea typeface="Pretendard"/>
              </a:rPr>
              <a:t>With</a:t>
            </a:r>
          </a:p>
        </p:txBody>
      </p:sp>
      <p:sp>
        <p:nvSpPr>
          <p:cNvPr id="31" name="BarAI"/>
          <p:cNvSpPr/>
          <p:nvPr/>
        </p:nvSpPr>
        <p:spPr>
          <a:xfrm>
            <a:off x="1524000" y="2349500"/>
            <a:ext cx="6667500" cy="457200"/>
          </a:xfrm>
          <a:prstGeom prst="roundRect">
            <a:avLst>
              <a:gd name="adj" fmla="val 5000"/>
            </a:avLst>
          </a:prstGeom>
          <a:solidFill>
            <a:srgbClr val="DF7B53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000" dirty="0">
                <a:solidFill>
                  <a:srgbClr val="FFFFFF"/>
                </a:solidFill>
                <a:latin typeface="Pretendard"/>
                <a:ea typeface="Pretendard"/>
              </a:rPr>
              <a:t>AI가 단시간에 도달</a:t>
            </a:r>
          </a:p>
        </p:txBody>
      </p:sp>
      <p:sp>
        <p:nvSpPr>
          <p:cNvPr id="32" name="BarHuman"/>
          <p:cNvSpPr/>
          <p:nvPr/>
        </p:nvSpPr>
        <p:spPr>
          <a:xfrm>
            <a:off x="8242300" y="2349500"/>
            <a:ext cx="2171700" cy="457200"/>
          </a:xfrm>
          <a:prstGeom prst="roundRect">
            <a:avLst>
              <a:gd name="adj" fmla="val 5000"/>
            </a:avLst>
          </a:prstGeom>
          <a:solidFill>
            <a:srgbClr val="C0C0C0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000" dirty="0">
                <a:solidFill>
                  <a:srgbClr val="FFFFFF"/>
                </a:solidFill>
                <a:latin typeface="Pretendard"/>
                <a:ea typeface="Pretendard"/>
              </a:rPr>
              <a:t>사람이 마무리</a:t>
            </a:r>
          </a:p>
        </p:txBody>
      </p:sp>
      <p:sp>
        <p:nvSpPr>
          <p:cNvPr id="33" name="Scale0b"/>
          <p:cNvSpPr/>
          <p:nvPr/>
        </p:nvSpPr>
        <p:spPr>
          <a:xfrm>
            <a:off x="1524000" y="28575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000" dirty="0">
                <a:solidFill>
                  <a:srgbClr val="AAAAAA"/>
                </a:solidFill>
                <a:latin typeface="Pretendard"/>
                <a:ea typeface="Pretendard"/>
              </a:rPr>
              <a:t>0</a:t>
            </a:r>
          </a:p>
        </p:txBody>
      </p:sp>
      <p:sp>
        <p:nvSpPr>
          <p:cNvPr id="34" name="Scale100b"/>
          <p:cNvSpPr/>
          <p:nvPr/>
        </p:nvSpPr>
        <p:spPr>
          <a:xfrm>
            <a:off x="10033000" y="28575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r"/>
            <a:r>
              <a:rPr lang="en-US" sz="1000" dirty="0">
                <a:solidFill>
                  <a:srgbClr val="AAAAAA"/>
                </a:solidFill>
                <a:latin typeface="Pretendard"/>
                <a:ea typeface="Pretendard"/>
              </a:rPr>
              <a:t>100</a:t>
            </a:r>
          </a:p>
        </p:txBody>
      </p:sp>
      <p:sp>
        <p:nvSpPr>
          <p:cNvPr id="35" name="Boundary"/>
          <p:cNvSpPr/>
          <p:nvPr/>
        </p:nvSpPr>
        <p:spPr>
          <a:xfrm>
            <a:off x="7810500" y="2857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900" b="1" dirty="0">
                <a:solidFill>
                  <a:srgbClr val="DF7B53"/>
                </a:solidFill>
                <a:latin typeface="Pretendard"/>
                <a:ea typeface="Pretendard"/>
              </a:rPr>
              <a:t>초안 완성</a:t>
            </a:r>
          </a:p>
        </p:txBody>
      </p:sp>
      <p:sp>
        <p:nvSpPr>
          <p:cNvPr id="36" name="DashLine"/>
          <p:cNvSpPr/>
          <p:nvPr/>
        </p:nvSpPr>
        <p:spPr>
          <a:xfrm>
            <a:off x="8191500" y="2159000"/>
            <a:ext cx="10160" cy="952500"/>
          </a:xfrm>
          <a:prstGeom prst="rect">
            <a:avLst/>
          </a:prstGeom>
          <a:noFill/>
          <a:ln w="12700" cap="flat">
            <a:solidFill>
              <a:srgbClr val="DF7B53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imeWith"/>
          <p:cNvSpPr/>
          <p:nvPr/>
        </p:nvSpPr>
        <p:spPr>
          <a:xfrm>
            <a:off x="10591800" y="23495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000" dirty="0">
                <a:solidFill>
                  <a:srgbClr val="DF7B53"/>
                </a:solidFill>
                <a:latin typeface="Consolas"/>
                <a:ea typeface="Pretendard"/>
              </a:rPr>
              <a:t>━━━</a:t>
            </a:r>
          </a:p>
        </p:txBody>
      </p:sp>
      <p:sp>
        <p:nvSpPr>
          <p:cNvPr id="38" name="Savings"/>
          <p:cNvSpPr/>
          <p:nvPr/>
        </p:nvSpPr>
        <p:spPr>
          <a:xfrm>
            <a:off x="10591800" y="1778000"/>
            <a:ext cx="139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100" b="1" dirty="0">
                <a:solidFill>
                  <a:srgbClr val="DF7B53"/>
                </a:solidFill>
                <a:latin typeface="Pretendard"/>
                <a:ea typeface="Pretendard"/>
              </a:rPr>
              <a:t>↕ </a:t>
            </a:r>
            <a:r>
              <a:rPr lang="ko-KR" sz="1100" b="1">
                <a:solidFill>
                  <a:srgbClr val="DF7B53"/>
                </a:solidFill>
                <a:latin typeface="Pretendard"/>
                <a:ea typeface="Pretendard"/>
              </a:rPr>
              <a:t>시간 절감</a:t>
            </a:r>
            <a:endParaRPr lang="en-US" altLang="ko-KR" sz="1100" b="1">
              <a:solidFill>
                <a:srgbClr val="DF7B53"/>
              </a:solidFill>
              <a:latin typeface="Pretendard"/>
              <a:ea typeface="Pretendard"/>
            </a:endParaRPr>
          </a:p>
        </p:txBody>
      </p:sp>
      <p:sp>
        <p:nvSpPr>
          <p:cNvPr id="40" name="Pt1"/>
          <p:cNvSpPr/>
          <p:nvPr/>
        </p:nvSpPr>
        <p:spPr>
          <a:xfrm>
            <a:off x="609600" y="3556000"/>
            <a:ext cx="3505200" cy="241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800" b="1" dirty="0">
                <a:solidFill>
                  <a:srgbClr val="DF7B53"/>
                </a:solidFill>
                <a:latin typeface="Pretendard"/>
                <a:ea typeface="Pretendard"/>
              </a:rPr>
              <a:t>0 </a:t>
            </a:r>
            <a:r>
              <a:rPr lang="en-US" sz="1800" b="1">
                <a:solidFill>
                  <a:srgbClr val="DF7B53"/>
                </a:solidFill>
                <a:latin typeface="Pretendard"/>
                <a:ea typeface="Pretendard"/>
              </a:rPr>
              <a:t>→ 75</a:t>
            </a:r>
          </a:p>
          <a:p>
            <a:pPr algn="ctr"/>
            <a:endParaRPr lang="en-US" sz="1800" b="1" dirty="0">
              <a:solidFill>
                <a:srgbClr val="DF7B53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반복적인 프롬프트,
불필요한 티키타카 없이
AI가 초안을 빠르게 만든다</a:t>
            </a:r>
          </a:p>
        </p:txBody>
      </p:sp>
      <p:sp>
        <p:nvSpPr>
          <p:cNvPr id="41" name="Pt2"/>
          <p:cNvSpPr/>
          <p:nvPr/>
        </p:nvSpPr>
        <p:spPr>
          <a:xfrm>
            <a:off x="4343400" y="3556000"/>
            <a:ext cx="3505200" cy="241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800" b="1" dirty="0">
                <a:solidFill>
                  <a:srgbClr val="878787"/>
                </a:solidFill>
                <a:latin typeface="Pretendard"/>
                <a:ea typeface="Pretendard"/>
              </a:rPr>
              <a:t>75 </a:t>
            </a:r>
            <a:r>
              <a:rPr lang="en-US" sz="1800" b="1">
                <a:solidFill>
                  <a:srgbClr val="878787"/>
                </a:solidFill>
                <a:latin typeface="Pretendard"/>
                <a:ea typeface="Pretendard"/>
              </a:rPr>
              <a:t>→ 100</a:t>
            </a:r>
          </a:p>
          <a:p>
            <a:pPr algn="ctr"/>
            <a:endParaRPr lang="en-US" sz="1800" b="1" dirty="0">
              <a:solidFill>
                <a:srgbClr val="878787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사람이 검토하고 다듬는다
이 부분은 원래도
해야 할 일</a:t>
            </a:r>
          </a:p>
        </p:txBody>
      </p:sp>
      <p:sp>
        <p:nvSpPr>
          <p:cNvPr id="42" name="Pt3"/>
          <p:cNvSpPr/>
          <p:nvPr/>
        </p:nvSpPr>
        <p:spPr>
          <a:xfrm>
            <a:off x="8077200" y="3556000"/>
            <a:ext cx="3505200" cy="241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ko-KR" sz="1800" b="1">
                <a:solidFill>
                  <a:srgbClr val="1A1A1A"/>
                </a:solidFill>
                <a:latin typeface="Pretendard"/>
                <a:ea typeface="Pretendard"/>
              </a:rPr>
              <a:t>결과</a:t>
            </a:r>
            <a:endParaRPr lang="en-US" altLang="ko-KR" sz="1800" b="1">
              <a:solidFill>
                <a:srgbClr val="1A1A1A"/>
              </a:solidFill>
              <a:latin typeface="Pretendard"/>
              <a:ea typeface="Pretendard"/>
            </a:endParaRPr>
          </a:p>
          <a:p>
            <a:pPr algn="ctr"/>
            <a:endParaRPr lang="ko-KR" sz="1800" b="1" dirty="0">
              <a:solidFill>
                <a:srgbClr val="1A1A1A"/>
              </a:solidFill>
              <a:latin typeface="Pretendard"/>
              <a:ea typeface="Pretendard"/>
            </a:endParaRPr>
          </a:p>
          <a:p>
            <a:pPr algn="ctr">
              <a:spcBef>
                <a:spcPts val="400"/>
              </a:spcBef>
            </a:pPr>
            <a:r>
              <a:rPr lang="ko-KR" sz="1400" dirty="0">
                <a:solidFill>
                  <a:srgbClr val="1A1A1A"/>
                </a:solidFill>
                <a:latin typeface="Pretendard"/>
                <a:ea typeface="Pretendard"/>
              </a:rPr>
              <a:t>0에서 100까지 직접 가던
시간 대비 전체 소요 시간이
크게 줄어든다</a:t>
            </a:r>
          </a:p>
        </p:txBody>
      </p:sp>
    </p:spTree>
    <p:extLst>
      <p:ext uri="{BB962C8B-B14F-4D97-AF65-F5344CB8AC3E}">
        <p14:creationId xmlns:p14="http://schemas.microsoft.com/office/powerpoint/2010/main" val="1771581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TopGrad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91" name="BottomGrad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DF7B53"/>
              </a:gs>
              <a:gs pos="50000">
                <a:srgbClr val="E8A87C"/>
              </a:gs>
              <a:gs pos="100000">
                <a:srgbClr val="C96A4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" name="AccentDash"/>
          <p:cNvSpPr/>
          <p:nvPr/>
        </p:nvSpPr>
        <p:spPr>
          <a:xfrm>
            <a:off x="5486400" y="2286000"/>
            <a:ext cx="1219200" cy="38100"/>
          </a:xfrm>
          <a:prstGeom prst="rect">
            <a:avLst/>
          </a:prstGeom>
          <a:solidFill>
            <a:srgbClr val="DF7B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0" name="QA"/>
          <p:cNvSpPr/>
          <p:nvPr/>
        </p:nvSpPr>
        <p:spPr>
          <a:xfrm>
            <a:off x="914400" y="2540000"/>
            <a:ext cx="10363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5400" b="1" dirty="0">
                <a:solidFill>
                  <a:srgbClr val="DF7B53"/>
                </a:solidFill>
                <a:latin typeface="Pretendard"/>
                <a:ea typeface="Pretendard"/>
              </a:rPr>
              <a:t>Q &amp; A</a:t>
            </a:r>
          </a:p>
        </p:txBody>
      </p:sp>
      <p:sp>
        <p:nvSpPr>
          <p:cNvPr id="11" name="Thanks"/>
          <p:cNvSpPr/>
          <p:nvPr/>
        </p:nvSpPr>
        <p:spPr>
          <a:xfrm>
            <a:off x="914400" y="393700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2400" dirty="0">
                <a:solidFill>
                  <a:srgbClr val="4A4A4A"/>
                </a:solidFill>
                <a:latin typeface="Pretendard"/>
                <a:ea typeface="Pretendard"/>
              </a:rPr>
              <a:t>감사합니다</a:t>
            </a:r>
          </a:p>
        </p:txBody>
      </p:sp>
      <p:sp>
        <p:nvSpPr>
          <p:cNvPr id="12" name="Info"/>
          <p:cNvSpPr/>
          <p:nvPr/>
        </p:nvSpPr>
        <p:spPr>
          <a:xfrm>
            <a:off x="914400" y="4771417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개발 소스코드 깃허브 주소 안내</a:t>
            </a:r>
            <a:endParaRPr lang="en-US" sz="1400">
              <a:solidFill>
                <a:srgbClr val="AAAAAA"/>
              </a:solidFill>
              <a:latin typeface="Pretendard"/>
              <a:ea typeface="Pretendard"/>
            </a:endParaRPr>
          </a:p>
          <a:p>
            <a:pPr algn="ctr"/>
            <a:r>
              <a:rPr lang="en-US" sz="1400">
                <a:solidFill>
                  <a:srgbClr val="AAAAAA"/>
                </a:solidFill>
                <a:latin typeface="Pretendard"/>
                <a:ea typeface="Pretendard"/>
              </a:rPr>
              <a:t>oh-my-gx</a:t>
            </a:r>
            <a:r>
              <a:rPr lang="en-US" sz="1400" dirty="0">
                <a:solidFill>
                  <a:srgbClr val="AAAAAA"/>
                </a:solidFill>
                <a:latin typeface="Pretendard"/>
                <a:ea typeface="Pretendard"/>
              </a:rPr>
              <a:t>: github.com/bs-koo/oh-my-gx   ·   gx-pm: github.com/bs-koo/gx-pm</a:t>
            </a:r>
          </a:p>
        </p:txBody>
      </p:sp>
      <p:sp>
        <p:nvSpPr>
          <p:cNvPr id="2" name="Info">
            <a:extLst>
              <a:ext uri="{FF2B5EF4-FFF2-40B4-BE49-F238E27FC236}">
                <a16:creationId xmlns:a16="http://schemas.microsoft.com/office/drawing/2014/main" id="{946E4F27-E4CE-12C2-3D51-04F0FF3CF854}"/>
              </a:ext>
            </a:extLst>
          </p:cNvPr>
          <p:cNvSpPr txBox="1"/>
          <p:nvPr/>
        </p:nvSpPr>
        <p:spPr>
          <a:xfrm>
            <a:off x="1371600" y="5673171"/>
            <a:ext cx="944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데이터플랫폼 구본승</a:t>
            </a:r>
            <a:r>
              <a:rPr lang="en-US" sz="1400">
                <a:solidFill>
                  <a:srgbClr val="AAAAAA"/>
                </a:solidFill>
                <a:latin typeface="Pretendard"/>
                <a:ea typeface="Pretendard"/>
              </a:rPr>
              <a:t> | 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스픽스데이 </a:t>
            </a:r>
            <a:r>
              <a:rPr lang="en-US" altLang="ko-KR" sz="1400">
                <a:solidFill>
                  <a:srgbClr val="AAAAAA"/>
                </a:solidFill>
                <a:latin typeface="Pretendard"/>
                <a:ea typeface="Pretendard"/>
              </a:rPr>
              <a:t>18</a:t>
            </a:r>
            <a:r>
              <a:rPr lang="ko-KR" altLang="en-US" sz="1400">
                <a:solidFill>
                  <a:srgbClr val="AAAAAA"/>
                </a:solidFill>
                <a:latin typeface="Pretendard"/>
                <a:ea typeface="Pretendard"/>
              </a:rPr>
              <a:t>회</a:t>
            </a:r>
            <a:endParaRPr lang="en-US" sz="1400" dirty="0">
              <a:solidFill>
                <a:srgbClr val="AAAAAA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6375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4490296993]">
  <a:themeElements>
    <a:clrScheme name="Office">
      <a:dk1>
        <a:srgbClr val="E8ECF0"/>
      </a:dk1>
      <a:lt1>
        <a:srgbClr val="0F1923"/>
      </a:lt1>
      <a:dk2>
        <a:srgbClr val="A0AEC0"/>
      </a:dk2>
      <a:lt2>
        <a:srgbClr val="1A2737"/>
      </a:lt2>
      <a:accent1>
        <a:srgbClr val="00D68F"/>
      </a:accent1>
      <a:accent2>
        <a:srgbClr val="38BDF8"/>
      </a:accent2>
      <a:accent3>
        <a:srgbClr val="F87171"/>
      </a:accent3>
      <a:accent4>
        <a:srgbClr val="FBBF24"/>
      </a:accent4>
      <a:accent5>
        <a:srgbClr val="818CF8"/>
      </a:accent5>
      <a:accent6>
        <a:srgbClr val="2DD4BF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 [1774491334498]">
  <a:themeElements>
    <a:clrScheme name="Office">
      <a:dk1>
        <a:srgbClr val="1A1A1A"/>
      </a:dk1>
      <a:lt1>
        <a:srgbClr val="FAFAFA"/>
      </a:lt1>
      <a:dk2>
        <a:srgbClr val="4A4A4A"/>
      </a:dk2>
      <a:lt2>
        <a:srgbClr val="F0F0F0"/>
      </a:lt2>
      <a:accent1>
        <a:srgbClr val="DF7B53"/>
      </a:accent1>
      <a:accent2>
        <a:srgbClr val="C96A45"/>
      </a:accent2>
      <a:accent3>
        <a:srgbClr val="878787"/>
      </a:accent3>
      <a:accent4>
        <a:srgbClr val="4A4A4A"/>
      </a:accent4>
      <a:accent5>
        <a:srgbClr val="AAAAAA"/>
      </a:accent5>
      <a:accent6>
        <a:srgbClr val="333333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Noto Sans KR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Noto Sans KR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 [1774492013245]">
  <a:themeElements>
    <a:clrScheme name="Office">
      <a:dk1>
        <a:srgbClr val="1A1A1A"/>
      </a:dk1>
      <a:lt1>
        <a:srgbClr val="FAFAFA"/>
      </a:lt1>
      <a:dk2>
        <a:srgbClr val="4A4A4A"/>
      </a:dk2>
      <a:lt2>
        <a:srgbClr val="F0F0F0"/>
      </a:lt2>
      <a:accent1>
        <a:srgbClr val="DF7B53"/>
      </a:accent1>
      <a:accent2>
        <a:srgbClr val="C96A45"/>
      </a:accent2>
      <a:accent3>
        <a:srgbClr val="878787"/>
      </a:accent3>
      <a:accent4>
        <a:srgbClr val="4A4A4A"/>
      </a:accent4>
      <a:accent5>
        <a:srgbClr val="AAAAAA"/>
      </a:accent5>
      <a:accent6>
        <a:srgbClr val="333333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 [1775027103952]">
  <a:themeElements>
    <a:clrScheme name="Office">
      <a:dk1>
        <a:srgbClr val="1A1A1A"/>
      </a:dk1>
      <a:lt1>
        <a:srgbClr val="FAFAFA"/>
      </a:lt1>
      <a:dk2>
        <a:srgbClr val="4A4A4A"/>
      </a:dk2>
      <a:lt2>
        <a:srgbClr val="F0F0F0"/>
      </a:lt2>
      <a:accent1>
        <a:srgbClr val="DF7B53"/>
      </a:accent1>
      <a:accent2>
        <a:srgbClr val="C96A45"/>
      </a:accent2>
      <a:accent3>
        <a:srgbClr val="878787"/>
      </a:accent3>
      <a:accent4>
        <a:srgbClr val="4A4A4A"/>
      </a:accent4>
      <a:accent5>
        <a:srgbClr val="AAAAAA"/>
      </a:accent5>
      <a:accent6>
        <a:srgbClr val="333333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44C90F-E872-4EED-B4F0-99D4F2524DA0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2042</Words>
  <Application>Microsoft Office PowerPoint</Application>
  <PresentationFormat>와이드스크린</PresentationFormat>
  <Paragraphs>390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Inter</vt:lpstr>
      <vt:lpstr>Pretendard</vt:lpstr>
      <vt:lpstr>맑은 고딕</vt:lpstr>
      <vt:lpstr>Arial</vt:lpstr>
      <vt:lpstr>Consolas</vt:lpstr>
      <vt:lpstr>Office 테마 [1774490296993]</vt:lpstr>
      <vt:lpstr>Office 테마</vt:lpstr>
      <vt:lpstr>Office 테마 [1774491334498]</vt:lpstr>
      <vt:lpstr>Office 테마 [1774492013245]</vt:lpstr>
      <vt:lpstr>Office 테마 [1775027103952]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본승 구</dc:creator>
  <cp:lastModifiedBy>본승 구</cp:lastModifiedBy>
  <cp:revision>24</cp:revision>
  <dcterms:created xsi:type="dcterms:W3CDTF">2026-03-26T01:54:27Z</dcterms:created>
  <dcterms:modified xsi:type="dcterms:W3CDTF">2026-04-02T04:25:08Z</dcterms:modified>
</cp:coreProperties>
</file>